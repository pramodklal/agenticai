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 and Agentic AI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Classroom Deck: Concepts, Frameworks, Patterns, and Real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Define AI Agent and Agentic AI with clear architectural boundaries</a:t>
            </a:r>
          </a:p>
          <a:p>
            <a:pPr>
              <a:defRPr sz="2000"/>
            </a:pPr>
            <a:r>
              <a:t>Understand agent design choices: single-agent, multi-agent, and tool-centric workflows</a:t>
            </a:r>
          </a:p>
          <a:p>
            <a:pPr>
              <a:defRPr sz="2000"/>
            </a:pPr>
            <a:r>
              <a:t>Learn practical framework roles: LangChain, LangGraph, LangSmith</a:t>
            </a:r>
          </a:p>
          <a:p>
            <a:pPr>
              <a:defRPr sz="2000"/>
            </a:pPr>
            <a:r>
              <a:t>Evaluate reasoning patterns: ReAct, Reflection, Plan-and-Execute</a:t>
            </a:r>
          </a:p>
          <a:p>
            <a:pPr>
              <a:defRPr sz="2000"/>
            </a:pPr>
            <a:r>
              <a:t>Analyze a production-style case study using MyHealthCoach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Definition: 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AI agent is an autonomous software unit that interprets goals and executes actions</a:t>
            </a:r>
          </a:p>
          <a:p>
            <a:pPr>
              <a:defRPr sz="2000"/>
            </a:pPr>
            <a:r>
              <a:t>Canonical loop: Observe -&gt; Reason -&gt; Decide -&gt; Act -&gt; Evaluate</a:t>
            </a:r>
          </a:p>
          <a:p>
            <a:pPr>
              <a:defRPr sz="2000"/>
            </a:pPr>
            <a:r>
              <a:t>Actions may include tool calls, API operations, retrieval, and state updates</a:t>
            </a:r>
          </a:p>
          <a:p>
            <a:pPr>
              <a:defRPr sz="2000"/>
            </a:pPr>
            <a:r>
              <a:t>An agent is measured by task completion quality, not only text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Definition: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Agentic AI is a system pattern where planning, execution, and adaptation are first-class</a:t>
            </a:r>
          </a:p>
          <a:p>
            <a:pPr>
              <a:defRPr sz="2000"/>
            </a:pPr>
            <a:r>
              <a:t>It coordinates reasoning, memory/state, tools, policies, and feedback loops</a:t>
            </a:r>
          </a:p>
          <a:p>
            <a:pPr>
              <a:defRPr sz="2000"/>
            </a:pPr>
            <a:r>
              <a:t>Can be realized with one orchestrator agent or a specialist multi-agent topology</a:t>
            </a:r>
          </a:p>
          <a:p>
            <a:pPr>
              <a:defRPr sz="2000"/>
            </a:pPr>
            <a:r>
              <a:t>Primary objective is reliable outcome delivery under real-world constraints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vs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Agent = component-level capability (one decision-making unit)</a:t>
            </a:r>
          </a:p>
          <a:p>
            <a:pPr>
              <a:defRPr sz="2000"/>
            </a:pPr>
            <a:r>
              <a:t>Agentic AI = system-level architecture and behavior model</a:t>
            </a:r>
          </a:p>
          <a:p>
            <a:pPr>
              <a:defRPr sz="2000"/>
            </a:pPr>
            <a:r>
              <a:t>A chatbot becomes agentic only when it performs intentional multi-step action</a:t>
            </a:r>
          </a:p>
          <a:p>
            <a:pPr>
              <a:defRPr sz="2000"/>
            </a:pPr>
            <a:r>
              <a:t>Strong agentic systems include observability, risk controls, and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Reactive agents: fast response under low reasoning depth</a:t>
            </a:r>
          </a:p>
          <a:p>
            <a:pPr>
              <a:defRPr sz="2000"/>
            </a:pPr>
            <a:r>
              <a:t>Deliberative agents: deeper planning and decomposition before execution</a:t>
            </a:r>
          </a:p>
          <a:p>
            <a:pPr>
              <a:defRPr sz="2000"/>
            </a:pPr>
            <a:r>
              <a:t>Tool-using agents: operational actions via APIs, DBs, and enterprise systems</a:t>
            </a:r>
          </a:p>
          <a:p>
            <a:pPr>
              <a:defRPr sz="2000"/>
            </a:pPr>
            <a:r>
              <a:t>Multi-agent systems: orchestration plus domain specialists</a:t>
            </a:r>
          </a:p>
          <a:p>
            <a:pPr>
              <a:defRPr sz="2000"/>
            </a:pPr>
            <a:r>
              <a:t>Human-in-the-loop systems: controlled escalation for safety-critical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 layer: reasoning and synthesis engine</a:t>
            </a:r>
          </a:p>
          <a:p>
            <a:pPr>
              <a:defRPr sz="2000"/>
            </a:pPr>
            <a:r>
              <a:t>Tool layer: actionable capabilities beyond text generation</a:t>
            </a:r>
          </a:p>
          <a:p>
            <a:pPr>
              <a:defRPr sz="2000"/>
            </a:pPr>
            <a:r>
              <a:t>State and memory: durable context across turns and sessions</a:t>
            </a:r>
          </a:p>
          <a:p>
            <a:pPr>
              <a:defRPr sz="2000"/>
            </a:pPr>
            <a:r>
              <a:t>Orchestration policy: routing, retries, branching, and stop conditions</a:t>
            </a:r>
          </a:p>
          <a:p>
            <a:pPr>
              <a:defRPr sz="2000"/>
            </a:pPr>
            <a:r>
              <a:t>Guardrails and evaluator: safety, correctness, and reliability checks</a:t>
            </a:r>
          </a:p>
          <a:p>
            <a:pPr>
              <a:defRPr sz="2000"/>
            </a:pPr>
            <a:r>
              <a:t>Observability: traceability of every decision, tool call, and latency segment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LangChain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Application composition framework for prompts, models, messages, and tools</a:t>
            </a:r>
          </a:p>
          <a:p>
            <a:pPr>
              <a:defRPr sz="2000"/>
            </a:pPr>
            <a:r>
              <a:t>Provides standardized interfaces for rapid prototyping and refactoring</a:t>
            </a:r>
          </a:p>
          <a:p>
            <a:pPr>
              <a:defRPr sz="2000"/>
            </a:pPr>
            <a:r>
              <a:t>Useful for implementing tool-calling behavior quickly</a:t>
            </a:r>
          </a:p>
          <a:p>
            <a:pPr>
              <a:defRPr sz="2000"/>
            </a:pPr>
            <a:r>
              <a:t>Best viewed as the component abstraction layer in the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State-machine and graph orchestration for controlled agent workflows</a:t>
            </a:r>
          </a:p>
          <a:p>
            <a:pPr>
              <a:defRPr sz="2000"/>
            </a:pPr>
            <a:r>
              <a:t>Supports deterministic branching, loops, checkpoints, and recovery paths</a:t>
            </a:r>
          </a:p>
          <a:p>
            <a:pPr>
              <a:defRPr sz="2000"/>
            </a:pPr>
            <a:r>
              <a:t>Well-suited for production-grade, auditable execution</a:t>
            </a:r>
          </a:p>
          <a:p>
            <a:pPr>
              <a:defRPr sz="2000"/>
            </a:pPr>
            <a:r>
              <a:t>Excellent for supervisor-specialist and multi-stage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LangSmith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Observability and evaluation platform for LLM and agent applications</a:t>
            </a:r>
          </a:p>
          <a:p>
            <a:pPr>
              <a:defRPr sz="2000"/>
            </a:pPr>
            <a:r>
              <a:t>Captures run trees, tool calls, tokens, latency, and error surfaces</a:t>
            </a:r>
          </a:p>
          <a:p>
            <a:pPr>
              <a:defRPr sz="2000"/>
            </a:pPr>
            <a:r>
              <a:t>Supports experiment tracking, dataset-driven regression, and comparisons</a:t>
            </a:r>
          </a:p>
          <a:p>
            <a:pPr>
              <a:defRPr sz="2000"/>
            </a:pPr>
            <a:r>
              <a:t>Enables structured feedback attached directly to run identifiers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Framework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ReAct: iterative reasoning with evidence-gathering actions</a:t>
            </a:r>
          </a:p>
          <a:p>
            <a:pPr>
              <a:defRPr sz="2000"/>
            </a:pPr>
            <a:r>
              <a:t>Reflection: self-critique pass to improve quality and safety</a:t>
            </a:r>
          </a:p>
          <a:p>
            <a:pPr>
              <a:defRPr sz="2000"/>
            </a:pPr>
            <a:r>
              <a:t>Plan-and-Execute: decomposition first, deterministic execution second</a:t>
            </a:r>
          </a:p>
          <a:p>
            <a:pPr>
              <a:defRPr sz="2000"/>
            </a:pPr>
            <a:r>
              <a:t>Self-Consistency: multiple reasoning paths with selection strategy</a:t>
            </a:r>
          </a:p>
          <a:p>
            <a:pPr>
              <a:defRPr sz="2000"/>
            </a:pPr>
            <a:r>
              <a:t>Multi-Agent Collaboration: explicit role-based specialization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Ideal when the model must gather evidence before answering</a:t>
            </a:r>
          </a:p>
          <a:p>
            <a:pPr>
              <a:defRPr sz="2000"/>
            </a:pPr>
            <a:r>
              <a:t>Loop: reason about next step -&gt; call tool -&gt; integrate observation</a:t>
            </a:r>
          </a:p>
          <a:p>
            <a:pPr>
              <a:defRPr sz="2000"/>
            </a:pPr>
            <a:r>
              <a:t>Improves groundedness, explainability, and action correctness</a:t>
            </a:r>
          </a:p>
          <a:p>
            <a:pPr>
              <a:defRPr sz="2000"/>
            </a:pPr>
            <a:r>
              <a:t>Tradeoff: more steps can increase latency and inference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system generates a draft and then performs a critique pass</a:t>
            </a:r>
          </a:p>
          <a:p>
            <a:pPr>
              <a:defRPr sz="2000"/>
            </a:pPr>
            <a:r>
              <a:t>Critique checks logic coverage, safety notes, and response clarity</a:t>
            </a:r>
          </a:p>
          <a:p>
            <a:pPr>
              <a:defRPr sz="2000"/>
            </a:pPr>
            <a:r>
              <a:t>Can use same model with rubric prompt or a separate critic model</a:t>
            </a:r>
          </a:p>
          <a:p>
            <a:pPr>
              <a:defRPr sz="2000"/>
            </a:pPr>
            <a:r>
              <a:t>Tradeoff: higher confidence output versus additional compute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Chat: Request 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Request: i am a pre diabatic patient</a:t>
            </a:r>
          </a:p>
          <a:p>
            <a:pPr>
              <a:defRPr sz="2000"/>
            </a:pPr>
            <a:r>
              <a:t>System response (structured): Dietary Recommendations + Exercise Recommendations + Wellness Practices</a:t>
            </a:r>
          </a:p>
          <a:p>
            <a:pPr>
              <a:defRPr sz="2000"/>
            </a:pPr>
            <a:r>
              <a:t>Safety behavior: explicit healthcare-provider consultation note included</a:t>
            </a:r>
          </a:p>
          <a:p>
            <a:pPr>
              <a:defRPr sz="2000"/>
            </a:pPr>
            <a:r>
              <a:t>Optional next action: offer to find nearby healthcare provider</a:t>
            </a:r>
          </a:p>
          <a:p>
            <a:pPr>
              <a:defRPr sz="2000"/>
            </a:pPr>
            <a:r>
              <a:t>Why this is agentic: supervisor routes to dietitian, fitness, and wellness specialists before synthesis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MyHealthCoach: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Streamlit UI captures profile, query, and runtime debug controls</a:t>
            </a:r>
          </a:p>
          <a:p>
            <a:pPr>
              <a:defRPr sz="2000"/>
            </a:pPr>
            <a:r>
              <a:t>LangGraph executes deterministic flow: load_context -&gt; supervisor -&gt; final response</a:t>
            </a:r>
          </a:p>
          <a:p>
            <a:pPr>
              <a:defRPr sz="2000"/>
            </a:pPr>
            <a:r>
              <a:t>Supervisor ReAct chooses specialist tools based on user intent</a:t>
            </a:r>
          </a:p>
          <a:p>
            <a:pPr>
              <a:defRPr sz="2000"/>
            </a:pPr>
            <a:r>
              <a:t>Specialists call context, summary, and retrieval tools for grounded advice</a:t>
            </a:r>
          </a:p>
          <a:p>
            <a:pPr>
              <a:defRPr sz="2000"/>
            </a:pPr>
            <a:r>
              <a:t>Doctor lookup supports US zip and India pincode routing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MyHealthCoach: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Supervisor plus six specialist domains: wellness, fitness, dietitian, mental, maternal, women</a:t>
            </a:r>
          </a:p>
          <a:p>
            <a:pPr>
              <a:defRPr sz="2000"/>
            </a:pPr>
            <a:r>
              <a:t>Doctor router strategy: NPI Registry (US) and Nominatim+Overpass (India)</a:t>
            </a:r>
          </a:p>
          <a:p>
            <a:pPr>
              <a:defRPr sz="2000"/>
            </a:pPr>
            <a:r>
              <a:t>Azure OpenAI powers both supervisor and specialist reasoning</a:t>
            </a:r>
          </a:p>
          <a:p>
            <a:pPr>
              <a:defRPr sz="2000"/>
            </a:pPr>
            <a:r>
              <a:t>Data integration path includes Cosmos DB, AI Search, and Azure Storage</a:t>
            </a:r>
          </a:p>
          <a:p>
            <a:pPr>
              <a:defRPr sz="2000"/>
            </a:pPr>
            <a:r>
              <a:t>Safety-first response policy enforces non-diagnostic advisory tone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and Performance in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Live per-run scoring appears in Streamlit debug panel</a:t>
            </a:r>
          </a:p>
          <a:p>
            <a:pPr>
              <a:defRPr sz="2000"/>
            </a:pPr>
            <a:r>
              <a:t>Core criteria: routing accuracy, grounding, actionability, safety, lookup behavior, latency</a:t>
            </a:r>
          </a:p>
          <a:p>
            <a:pPr>
              <a:defRPr sz="2000"/>
            </a:pPr>
            <a:r>
              <a:t>Batch regression script runs fixed prompt suites for stability checks</a:t>
            </a:r>
          </a:p>
          <a:p>
            <a:pPr>
              <a:defRPr sz="2000"/>
            </a:pPr>
            <a:r>
              <a:t>LangSmith mapping converts evaluation checks to feedback keys</a:t>
            </a:r>
          </a:p>
          <a:p>
            <a:pPr>
              <a:defRPr sz="2000"/>
            </a:pPr>
            <a:r>
              <a:t>Optional run_id submission enables experiment-level trend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Lab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Lab 1: convert a single-turn bot to tool-using ReAct</a:t>
            </a:r>
          </a:p>
          <a:p>
            <a:pPr>
              <a:defRPr sz="2000"/>
            </a:pPr>
            <a:r>
              <a:t>Lab 2: add reflection and compare quality versus latency</a:t>
            </a:r>
          </a:p>
          <a:p>
            <a:pPr>
              <a:defRPr sz="2000"/>
            </a:pPr>
            <a:r>
              <a:t>Lab 3: create rubric-based evaluation prompts for one health domain</a:t>
            </a:r>
          </a:p>
          <a:p>
            <a:pPr>
              <a:defRPr sz="2000"/>
            </a:pPr>
            <a:r>
              <a:t>Lab 4: inspect LangSmith traces and identify routing inefficiencies</a:t>
            </a:r>
          </a:p>
          <a:p>
            <a:pPr>
              <a:defRPr sz="2000"/>
            </a:pPr>
            <a:r>
              <a:t>Lab 5: define safety boundaries for healthcare assistant behavior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Agent is the execution unit; Agentic AI is the orchestration behavior</a:t>
            </a:r>
          </a:p>
          <a:p>
            <a:pPr>
              <a:defRPr sz="2000"/>
            </a:pPr>
            <a:r>
              <a:t>Framework stack alignment: LangChain + LangGraph + LangSmith</a:t>
            </a:r>
          </a:p>
          <a:p>
            <a:pPr>
              <a:defRPr sz="2000"/>
            </a:pPr>
            <a:r>
              <a:t>Pattern choice (ReAct/Reflection) should match task risk and complexity</a:t>
            </a:r>
          </a:p>
          <a:p>
            <a:pPr>
              <a:defRPr sz="2000"/>
            </a:pPr>
            <a:r>
              <a:t>Evaluation and observability are essential for production trust</a:t>
            </a:r>
          </a:p>
          <a:p>
            <a:pPr>
              <a:defRPr sz="2000"/>
            </a:pPr>
            <a:r>
              <a:t>MyHealthCoach demonstrates a practical agentic architecture in healthcare coaching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Chat (Request)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52880"/>
            <a:ext cx="7960995" cy="4389120"/>
          </a:xfrm>
          <a:prstGeom prst="roundRect">
            <a:avLst/>
          </a:prstGeom>
          <a:solidFill>
            <a:srgbClr val="0C3D82"/>
          </a:solidFill>
          <a:ln>
            <a:solidFill>
              <a:srgbClr val="0C3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User: i am a pre diabatic patient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Context provided via profile: age, goal, diet preference, and zip/pincode.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Expected behavior: route to dietitian, fitness, and wellness specialists.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Chat (Response - Verbatim, Shortened)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52880"/>
            <a:ext cx="7985760" cy="4493895"/>
          </a:xfrm>
          <a:prstGeom prst="roundRect">
            <a:avLst/>
          </a:prstGeom>
          <a:solidFill>
            <a:srgbClr val="EBF2FF"/>
          </a:solidFill>
          <a:ln>
            <a:solidFill>
              <a:srgbClr val="0C3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22222"/>
                </a:solidFill>
              </a:defRPr>
            </a:pPr>
            <a:r>
              <a:t>Assistant: Comprehensive plan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"Here is a comprehensive plan tailored to your prediabetes, fat-loss, and energy consistency goals."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Dietary Recommendations: low-glycemic carbs, lean protein, healthy fats, hydration.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Exercise Recommendations: brisk walk, moderate cardio, and recovery-aware strength training.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Wellness Practices: quality sleep, stress management, and routine consistency.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"Safety Note: Consult a healthcare provider before making significant dietary changes."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"Would you like assistance finding a healthcare provider?"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6901</Words>
  <Application>WPS Presentation</Application>
  <PresentationFormat>On-screen Show (4:3)</PresentationFormat>
  <Paragraphs>157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Lato</vt:lpstr>
      <vt:lpstr>Segoe Print</vt:lpstr>
      <vt:lpstr>Manrope ExtraBold</vt:lpstr>
      <vt:lpstr>Office Theme</vt:lpstr>
      <vt:lpstr>AI Agent and Agentic AI Fundamentals</vt:lpstr>
      <vt:lpstr>Learning Objectives</vt:lpstr>
      <vt:lpstr>Definition: AI Agent</vt:lpstr>
      <vt:lpstr>Definition: Agentic AI</vt:lpstr>
      <vt:lpstr>AI Agent vs Agentic AI</vt:lpstr>
      <vt:lpstr>Types of AI Agents</vt:lpstr>
      <vt:lpstr>Foundational Components</vt:lpstr>
      <vt:lpstr>LangChain Overview</vt:lpstr>
      <vt:lpstr>LangGraph Overview</vt:lpstr>
      <vt:lpstr>LangSmith Overview</vt:lpstr>
      <vt:lpstr>Agent Framework Patterns</vt:lpstr>
      <vt:lpstr>ReAct Pattern</vt:lpstr>
      <vt:lpstr>Reflection Pattern</vt:lpstr>
      <vt:lpstr>Case Study Chat: Request and Response</vt:lpstr>
      <vt:lpstr>MyHealthCoach: Solution Overview</vt:lpstr>
      <vt:lpstr>MyHealthCoach: Implementation Details</vt:lpstr>
      <vt:lpstr>Evaluation and Performance in This Project</vt:lpstr>
      <vt:lpstr>Teaching Lab Activities</vt:lpstr>
      <vt:lpstr>Key Takeaways</vt:lpstr>
      <vt:lpstr>Case Chat (Request)</vt:lpstr>
      <vt:lpstr>Case Chat (Response - Verbatim, Shortened)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Pramod Lal</cp:lastModifiedBy>
  <cp:revision>2</cp:revision>
  <dcterms:created xsi:type="dcterms:W3CDTF">2013-01-27T09:14:00Z</dcterms:created>
  <dcterms:modified xsi:type="dcterms:W3CDTF">2026-04-30T02:03:33Z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80494E82B4E84AA5979313BC9988F589_12</vt:lpwstr>
  </property>
</Properties>
</file>