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88" r:id="rId38"/>
    <p:sldId id="282" r:id="rId32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83" r:id="rId33"/>
    <p:sldId id="272" r:id="rId19"/>
    <p:sldId id="284" r:id="rId34"/>
    <p:sldId id="285" r:id="rId35"/>
    <p:sldId id="286" r:id="rId36"/>
    <p:sldId id="287" r:id="rId37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9.xml"/><Relationship Id="rId20" Type="http://schemas.openxmlformats.org/officeDocument/2006/relationships/slide" Target="slides/slide24.xml"/><Relationship Id="rId21" Type="http://schemas.openxmlformats.org/officeDocument/2006/relationships/slide" Target="slides/slide25.xml"/><Relationship Id="rId22" Type="http://schemas.openxmlformats.org/officeDocument/2006/relationships/slide" Target="slides/slide26.xml"/><Relationship Id="rId23" Type="http://schemas.openxmlformats.org/officeDocument/2006/relationships/slide" Target="slides/slide27.xml"/><Relationship Id="rId24" Type="http://schemas.openxmlformats.org/officeDocument/2006/relationships/slide" Target="slides/slide28.xml"/><Relationship Id="rId25" Type="http://schemas.openxmlformats.org/officeDocument/2006/relationships/slide" Target="slides/slide29.xml"/><Relationship Id="rId26" Type="http://schemas.openxmlformats.org/officeDocument/2006/relationships/slide" Target="slides/slide30.xml"/><Relationship Id="rId27" Type="http://schemas.openxmlformats.org/officeDocument/2006/relationships/slide" Target="slides/slide31.xml"/><Relationship Id="rId28" Type="http://schemas.openxmlformats.org/officeDocument/2006/relationships/slide" Target="slides/slide32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ableStyles" Target="tableStyles.xml"/><Relationship Id="rId32" Type="http://schemas.openxmlformats.org/officeDocument/2006/relationships/slide" Target="slides/slide7.xml"/><Relationship Id="rId33" Type="http://schemas.openxmlformats.org/officeDocument/2006/relationships/slide" Target="slides/slide18.xml"/><Relationship Id="rId34" Type="http://schemas.openxmlformats.org/officeDocument/2006/relationships/slide" Target="slides/slide20.xml"/><Relationship Id="rId35" Type="http://schemas.openxmlformats.org/officeDocument/2006/relationships/slide" Target="slides/slide21.xml"/><Relationship Id="rId36" Type="http://schemas.openxmlformats.org/officeDocument/2006/relationships/slide" Target="slides/slide22.xml"/><Relationship Id="rId37" Type="http://schemas.openxmlformats.org/officeDocument/2006/relationships/slide" Target="slides/slide23.xml"/><Relationship Id="rId38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37760"/>
            <a:ext cx="12188952" cy="16459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86230"/>
            <a:ext cx="10698480" cy="13398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4000" b="1">
                <a:solidFill>
                  <a:srgbClr val="FFFFFF"/>
                </a:solidFill>
              </a:rPr>
              <a:t>Build an AI Health Coach with Agentic AI</a:t>
            </a:r>
            <a:endParaRPr sz="40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C8DCFF"/>
                </a:solidFill>
              </a:rPr>
              <a:t>LangGraph · Azure OpenAI · Streamlit · LangSmith
Supervisor + Specialist Multi-Agent Architecture in Python</a:t>
            </a:r>
            <a:endParaRPr sz="2200" b="0">
              <a:solidFill>
                <a:srgbClr val="C8DC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313118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9900"/>
                </a:solidFill>
              </a:rPr>
              <a:t>github.com/pramodklal/AgenticAI</a:t>
            </a:r>
            <a:endParaRPr sz="1400" b="0">
              <a:solidFill>
                <a:srgbClr val="FF99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1100" y="118745"/>
            <a:ext cx="8419465" cy="14674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C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What We Cover in This Video</a:t>
            </a:r>
            <a:endParaRPr sz="26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</a:rPr>
              <a:t>▸  What is Agentic AI — and why it matters</a:t>
            </a:r>
            <a:endParaRPr sz="1900" b="0">
              <a:solidFill>
                <a:srgbClr val="222222"/>
              </a:solidFill>
            </a:endParaRP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</a:rPr>
              <a:t>▸  ReAct pattern and Supervisor + Specialist architecture</a:t>
            </a:r>
            <a:endParaRPr sz="1900" b="0">
              <a:solidFill>
                <a:srgbClr val="222222"/>
              </a:solidFill>
            </a:endParaRP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</a:rPr>
              <a:t>▸  LangGraph state machine and graph workflow code</a:t>
            </a:r>
            <a:endParaRPr sz="1900" b="0">
              <a:solidFill>
                <a:srgbClr val="222222"/>
              </a:solidFill>
            </a:endParaRP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</a:rPr>
              <a:t>▸  Domain-scoped specialist agents with tools</a:t>
            </a:r>
            <a:endParaRPr sz="1900" b="0">
              <a:solidFill>
                <a:srgbClr val="222222"/>
              </a:solidFill>
            </a:endParaRP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</a:rPr>
              <a:t>▸  Streamlit UI, user profile, and session state</a:t>
            </a:r>
            <a:endParaRPr sz="1900" b="0">
              <a:solidFill>
                <a:srgbClr val="222222"/>
              </a:solidFill>
            </a:endParaRP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</a:rPr>
              <a:t>▸  Azure OpenAI · AI Search · Cosmos DB integrations</a:t>
            </a:r>
            <a:endParaRPr sz="1900" b="0">
              <a:solidFill>
                <a:srgbClr val="222222"/>
              </a:solidFill>
            </a:endParaRP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</a:rPr>
              <a:t>▸  LangSmith tracing and custom evaluation scoring</a:t>
            </a:r>
            <a:endParaRPr sz="1900" b="0">
              <a:solidFill>
                <a:srgbClr val="222222"/>
              </a:solidFill>
            </a:endParaRP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</a:rPr>
              <a:t>▸  Doctor lookup — US (NPI Registry) and India (Overpass API)</a:t>
            </a:r>
            <a:endParaRPr sz="1900" b="0">
              <a:solidFill>
                <a:srgbClr val="222222"/>
              </a:solidFill>
            </a:endParaRP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</a:rPr>
              <a:t>▸  Batch regression testing and feedback pipeline</a:t>
            </a:r>
            <a:endParaRPr sz="1900" b="0">
              <a:solidFill>
                <a:srgbClr val="222222"/>
              </a:solidFill>
            </a:endParaRP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</a:rPr>
              <a:t>▸  Live demo: pre-diabetic patient query end-to-end</a:t>
            </a:r>
            <a:endParaRPr sz="1900" b="0">
              <a:solidFill>
                <a:srgbClr val="22222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440944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200" b="0">
                <a:solidFill>
                  <a:srgbClr val="646464"/>
                </a:solidFill>
              </a:rPr>
              <a:t>Copyright@CodeInsights</a:t>
            </a:r>
            <a:r>
              <a:rPr sz="1200" b="0">
                <a:solidFill>
                  <a:srgbClr val="646464"/>
                </a:solidFill>
              </a:rPr>
              <a:t>  |  Code: github.com/pramodklal/AgenticAI</a:t>
            </a:r>
            <a:endParaRPr sz="1200" b="0">
              <a:solidFill>
                <a:srgbClr val="646464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3190" y="-307975"/>
            <a:ext cx="12188952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0"/>
            <a:ext cx="12188952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F9900"/>
                </a:solidFill>
              </a:rPr>
              <a:t>SECTION 01</a:t>
            </a:r>
            <a:endParaRPr sz="1600" b="0">
              <a:solidFill>
                <a:srgbClr val="FF99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Agentic AI Concepts</a:t>
            </a:r>
            <a:endParaRPr sz="3600" b="1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3584575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D2E4FF"/>
                </a:solidFill>
              </a:rPr>
              <a:t>From single LLM call to multi-step orchestration</a:t>
            </a:r>
            <a:endParaRPr sz="2000" b="0">
              <a:solidFill>
                <a:srgbClr val="D2E4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C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Regular AI Call vs Agentic AI</a:t>
            </a:r>
            <a:endParaRPr sz="2600" b="1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20040" y="1143000"/>
            <a:ext cx="5394960" cy="5303520"/>
          </a:xfrm>
          <a:prstGeom prst="rect">
            <a:avLst/>
          </a:prstGeom>
          <a:solidFill>
            <a:srgbClr val="EBF2FF"/>
          </a:solidFill>
          <a:ln>
            <a:solidFill>
              <a:srgbClr val="0C3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C3D82"/>
                </a:solidFill>
              </a:rPr>
              <a:t>Regular LLM Call</a:t>
            </a:r>
            <a:endParaRPr sz="1600" b="1">
              <a:solidFill>
                <a:srgbClr val="0C3D8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0">
                <a:solidFill>
                  <a:srgbClr val="222222"/>
                </a:solidFill>
              </a:rPr>
              <a:t>▸  User sends a message</a:t>
            </a:r>
            <a:endParaRPr sz="1700" b="0">
              <a:solidFill>
                <a:srgbClr val="222222"/>
              </a:solidFill>
            </a:endParaRP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222222"/>
                </a:solidFill>
              </a:rPr>
              <a:t>▸  Model returns a single text answer</a:t>
            </a:r>
            <a:endParaRPr sz="1700" b="0">
              <a:solidFill>
                <a:srgbClr val="222222"/>
              </a:solidFill>
            </a:endParaRP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222222"/>
                </a:solidFill>
              </a:rPr>
              <a:t>▸  One step — no tools, no state</a:t>
            </a:r>
            <a:endParaRPr sz="1700" b="0">
              <a:solidFill>
                <a:srgbClr val="222222"/>
              </a:solidFill>
            </a:endParaRP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222222"/>
                </a:solidFill>
              </a:rPr>
              <a:t>▸  Limited by training data only</a:t>
            </a:r>
            <a:endParaRPr sz="1700" b="0">
              <a:solidFill>
                <a:srgbClr val="222222"/>
              </a:solidFill>
            </a:endParaRP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222222"/>
                </a:solidFill>
              </a:rPr>
              <a:t>▸  No observability of reasoning</a:t>
            </a:r>
            <a:endParaRPr sz="1700" b="0">
              <a:solidFill>
                <a:srgbClr val="22222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46520" y="1143000"/>
            <a:ext cx="5394960" cy="5303520"/>
          </a:xfrm>
          <a:prstGeom prst="rect">
            <a:avLst/>
          </a:prstGeom>
          <a:solidFill>
            <a:srgbClr val="FFFAEB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2344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A05A00"/>
                </a:solidFill>
              </a:rPr>
              <a:t>Agentic AI System</a:t>
            </a:r>
            <a:endParaRPr sz="1600" b="1">
              <a:solidFill>
                <a:srgbClr val="A05A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29400" y="17373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0">
                <a:solidFill>
                  <a:srgbClr val="222222"/>
                </a:solidFill>
              </a:rPr>
              <a:t>▸  User sends a message</a:t>
            </a:r>
            <a:endParaRPr sz="1700" b="0">
              <a:solidFill>
                <a:srgbClr val="222222"/>
              </a:solidFill>
            </a:endParaRP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222222"/>
                </a:solidFill>
              </a:rPr>
              <a:t>▸  Supervisor reasons about intent</a:t>
            </a:r>
            <a:endParaRPr sz="1700" b="0">
              <a:solidFill>
                <a:srgbClr val="222222"/>
              </a:solidFill>
            </a:endParaRP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222222"/>
                </a:solidFill>
              </a:rPr>
              <a:t>▸  Delegates to the right specialist</a:t>
            </a:r>
            <a:endParaRPr sz="1700" b="0">
              <a:solidFill>
                <a:srgbClr val="222222"/>
              </a:solidFill>
            </a:endParaRP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222222"/>
                </a:solidFill>
              </a:rPr>
              <a:t>▸  Specialist calls tools for real data</a:t>
            </a:r>
            <a:endParaRPr sz="1700" b="0">
              <a:solidFill>
                <a:srgbClr val="222222"/>
              </a:solidFill>
            </a:endParaRP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222222"/>
                </a:solidFill>
              </a:rPr>
              <a:t>▸  Synthesizes grounded, safe response</a:t>
            </a:r>
            <a:endParaRPr sz="1700" b="0">
              <a:solidFill>
                <a:srgbClr val="222222"/>
              </a:solidFill>
            </a:endParaRP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222222"/>
                </a:solidFill>
              </a:rPr>
              <a:t>▸  Every step is traced and scored</a:t>
            </a:r>
            <a:endParaRPr sz="1700" b="0">
              <a:solidFill>
                <a:srgbClr val="22222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C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ReAct Pattern — Reason, Act, Observe</a:t>
            </a:r>
            <a:endParaRPr sz="26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</a:rPr>
              <a:t>▸  ReAct = Reasoning + Acting in an interleaved loop</a:t>
            </a:r>
            <a:endParaRPr sz="1900" b="0">
              <a:solidFill>
                <a:srgbClr val="222222"/>
              </a:solidFill>
            </a:endParaRP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</a:rPr>
              <a:t>▸  Step 1 — Reason:  What information do I need to answer this?</a:t>
            </a:r>
            <a:endParaRPr sz="1900" b="0">
              <a:solidFill>
                <a:srgbClr val="222222"/>
              </a:solidFill>
            </a:endParaRP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</a:rPr>
              <a:t>▸  Step 2 — Act:  Call the appropriate tool (sleep summary, nutrition docs…)</a:t>
            </a:r>
            <a:endParaRPr sz="1900" b="0">
              <a:solidFill>
                <a:srgbClr val="222222"/>
              </a:solidFill>
            </a:endParaRP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</a:rPr>
              <a:t>▸  Step 3 — Observe:  Integrate the tool result into reasoning context</a:t>
            </a:r>
            <a:endParaRPr sz="1900" b="0">
              <a:solidFill>
                <a:srgbClr val="222222"/>
              </a:solidFill>
            </a:endParaRP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</a:rPr>
              <a:t>▸  Repeat until enough evidence is gathered</a:t>
            </a:r>
            <a:endParaRPr sz="1900" b="0">
              <a:solidFill>
                <a:srgbClr val="222222"/>
              </a:solidFill>
            </a:endParaRP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</a:rPr>
              <a:t>▸  Final step — Synthesize:  Generate structured, grounded response</a:t>
            </a:r>
            <a:endParaRPr sz="1900" b="0">
              <a:solidFill>
                <a:srgbClr val="222222"/>
              </a:solidFill>
            </a:endParaRP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</a:rPr>
              <a:t>▸  Benefit: explainable, evidence-backed advice instead of hallucinated text</a:t>
            </a:r>
            <a:endParaRPr sz="1900" b="0">
              <a:solidFill>
                <a:srgbClr val="22222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46464"/>
                </a:solidFill>
              </a:rPr>
              <a:t>Used in both supervisor and all 6 specialist agents in MyHealthCoach</a:t>
            </a:r>
            <a:endParaRPr sz="1200" b="0">
              <a:solidFill>
                <a:srgbClr val="646464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C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Supervisor + Specialist Architecture</a:t>
            </a:r>
            <a:endParaRPr sz="26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</a:rPr>
              <a:t>▸  One supervisor agent handles intent classification and routing</a:t>
            </a:r>
            <a:endParaRPr sz="1900" b="0">
              <a:solidFill>
                <a:srgbClr val="222222"/>
              </a:solidFill>
            </a:endParaRPr>
          </a:p>
          <a:p>
            <a:pPr>
              <a:spcAft>
                <a:spcPts val="600"/>
              </a:spcAft>
            </a:pPr>
            <a:r>
              <a:t>▸  Seven specialist agents each own a health domain:</a:t>
            </a:r>
            <a:endParaRPr sz="1900" b="0">
              <a:solidFill>
                <a:srgbClr val="222222"/>
              </a:solidFill>
            </a:endParaRPr>
          </a:p>
          <a:p>
            <a:pPr>
              <a:spcAft>
                <a:spcPts val="600"/>
              </a:spcAft>
            </a:pPr>
            <a:r>
              <a:t>    wellness · fitness · dietitian · medicines · mental_health · maternal_health · women_health</a:t>
            </a:r>
            <a:endParaRPr sz="1700" b="0">
              <a:solidFill>
                <a:srgbClr val="646464"/>
              </a:solidFill>
            </a:endParaRP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</a:rPr>
              <a:t>▸  Each specialist gets only the tools it needs — no bleed between domains</a:t>
            </a:r>
            <a:endParaRPr sz="1900" b="0">
              <a:solidFill>
                <a:srgbClr val="222222"/>
              </a:solidFill>
            </a:endParaRP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</a:rPr>
              <a:t>▸  Supervisor receives specialist results and synthesizes the final answer</a:t>
            </a:r>
            <a:endParaRPr sz="1900" b="0">
              <a:solidFill>
                <a:srgbClr val="222222"/>
              </a:solidFill>
            </a:endParaRP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</a:rPr>
              <a:t>▸  Benefits: modularity, testability, domain-safe tool scoping, explainability</a:t>
            </a:r>
            <a:endParaRPr sz="1900" b="0">
              <a:solidFill>
                <a:srgbClr val="22222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46464"/>
                </a:solidFill>
              </a:rPr>
              <a:t>Defined in react_executor.py — DOMAIN_TOOLSETS and DOMAIN_INSTRUCTIONS</a:t>
            </a:r>
            <a:endParaRPr sz="1200" b="0">
              <a:solidFill>
                <a:srgbClr val="646464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3D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4008"/>
          </a:xfrm>
          <a:prstGeom prst="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44562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Data Flow Architecture — Request to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8505" y="10972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AACCFF"/>
                </a:solidFill>
              </a:rPr>
              <a:t>Architecture Diagram</a:t>
            </a:r>
          </a:p>
        </p:txBody>
      </p:sp>
      <p:pic>
        <p:nvPicPr>
          <p:cNvPr id="5" name="Picture 4" descr="dfd_mhc.draw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49808"/>
            <a:ext cx="11731625" cy="5623560"/>
          </a:xfrm>
          <a:prstGeom prst="rect">
            <a:avLst/>
          </a:prstGeom>
        </p:spPr>
      </p:pic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5745" y="6263640"/>
            <a:ext cx="164592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0"/>
            <a:ext cx="12188952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F9900"/>
                </a:solidFill>
              </a:rPr>
              <a:t>SECTION 02</a:t>
            </a:r>
            <a:endParaRPr sz="1600" b="0">
              <a:solidFill>
                <a:srgbClr val="FF99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Code Walkthrough</a:t>
            </a:r>
            <a:endParaRPr sz="3600" b="1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D2E4FF"/>
                </a:solidFill>
              </a:rPr>
              <a:t>LangGraph · State · Nodes · Agent tools</a:t>
            </a:r>
            <a:endParaRPr sz="2000" b="0">
              <a:solidFill>
                <a:srgbClr val="D2E4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C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LangGraph State — HealthCoachState</a:t>
            </a:r>
            <a:endParaRPr sz="2600" b="1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11430000" cy="4754880"/>
          </a:xfrm>
          <a:prstGeom prst="rect">
            <a:avLst/>
          </a:prstGeom>
          <a:solidFill>
            <a:srgbClr val="1E1E28"/>
          </a:solidFill>
          <a:ln>
            <a:solidFill>
              <a:srgbClr val="505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10642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B4DCB4"/>
                </a:solidFill>
                <a:latin typeface="Courier New" panose="02070309020205020404"/>
              </a:rPr>
              <a:t># src/healthcoach/graph/state.py</a:t>
            </a:r>
            <a:endParaRPr sz="1500" b="0">
              <a:solidFill>
                <a:srgbClr val="B4DCB4"/>
              </a:solidFill>
              <a:latin typeface="Courier New" panose="02070309020205020404"/>
            </a:endParaRPr>
          </a:p>
          <a:p>
            <a:endParaRPr sz="1500"/>
          </a:p>
          <a:p>
            <a:r>
              <a:rPr sz="1500" b="0">
                <a:solidFill>
                  <a:srgbClr val="B4DCB4"/>
                </a:solidFill>
                <a:latin typeface="Courier New" panose="02070309020205020404"/>
              </a:rPr>
              <a:t>class HealthCoachState(TypedDict):</a:t>
            </a:r>
            <a:endParaRPr sz="1500" b="0">
              <a:solidFill>
                <a:srgbClr val="B4DCB4"/>
              </a:solidFill>
              <a:latin typeface="Courier New" panose="02070309020205020404"/>
            </a:endParaRPr>
          </a:p>
          <a:p>
            <a:r>
              <a:rPr sz="1500" b="0">
                <a:solidFill>
                  <a:srgbClr val="B4DCB4"/>
                </a:solidFill>
                <a:latin typeface="Courier New" panose="02070309020205020404"/>
              </a:rPr>
              <a:t>    conversation_id : str</a:t>
            </a:r>
            <a:endParaRPr sz="1500" b="0">
              <a:solidFill>
                <a:srgbClr val="B4DCB4"/>
              </a:solidFill>
              <a:latin typeface="Courier New" panose="02070309020205020404"/>
            </a:endParaRPr>
          </a:p>
          <a:p>
            <a:r>
              <a:rPr sz="1500" b="0">
                <a:solidFill>
                  <a:srgbClr val="B4DCB4"/>
                </a:solidFill>
                <a:latin typeface="Courier New" panose="02070309020205020404"/>
              </a:rPr>
              <a:t>    user_id         : str</a:t>
            </a:r>
            <a:endParaRPr sz="1500" b="0">
              <a:solidFill>
                <a:srgbClr val="B4DCB4"/>
              </a:solidFill>
              <a:latin typeface="Courier New" panose="02070309020205020404"/>
            </a:endParaRPr>
          </a:p>
          <a:p>
            <a:r>
              <a:rPr sz="1500" b="0">
                <a:solidFill>
                  <a:srgbClr val="B4DCB4"/>
                </a:solidFill>
                <a:latin typeface="Courier New" panose="02070309020205020404"/>
              </a:rPr>
              <a:t>    user_message    : str          # the question from the user</a:t>
            </a:r>
            <a:endParaRPr sz="1500" b="0">
              <a:solidFill>
                <a:srgbClr val="B4DCB4"/>
              </a:solidFill>
              <a:latin typeface="Courier New" panose="02070309020205020404"/>
            </a:endParaRPr>
          </a:p>
          <a:p>
            <a:r>
              <a:rPr sz="1500" b="0">
                <a:solidFill>
                  <a:srgbClr val="B4DCB4"/>
                </a:solidFill>
                <a:latin typeface="Courier New" panose="02070309020205020404"/>
              </a:rPr>
              <a:t>    user_profile    : dict         # age, gender, goal, zip, diet pref</a:t>
            </a:r>
            <a:endParaRPr sz="1500" b="0">
              <a:solidFill>
                <a:srgbClr val="B4DCB4"/>
              </a:solidFill>
              <a:latin typeface="Courier New" panose="02070309020205020404"/>
            </a:endParaRPr>
          </a:p>
          <a:p>
            <a:r>
              <a:rPr sz="1500" b="0">
                <a:solidFill>
                  <a:srgbClr val="B4DCB4"/>
                </a:solidFill>
                <a:latin typeface="Courier New" panose="02070309020205020404"/>
              </a:rPr>
              <a:t>    context         : dict         # loaded from Cosmos DB / stub</a:t>
            </a:r>
            <a:endParaRPr sz="1500" b="0">
              <a:solidFill>
                <a:srgbClr val="B4DCB4"/>
              </a:solidFill>
              <a:latin typeface="Courier New" panose="02070309020205020404"/>
            </a:endParaRPr>
          </a:p>
          <a:p>
            <a:r>
              <a:rPr sz="1500" b="0">
                <a:solidFill>
                  <a:srgbClr val="B4DCB4"/>
                </a:solidFill>
                <a:latin typeface="Courier New" panose="02070309020205020404"/>
              </a:rPr>
              <a:t>    collected_facts : dict         # domain facts gathered by specialists</a:t>
            </a:r>
            <a:endParaRPr sz="1500" b="0">
              <a:solidFill>
                <a:srgbClr val="B4DCB4"/>
              </a:solidFill>
              <a:latin typeface="Courier New" panose="02070309020205020404"/>
            </a:endParaRPr>
          </a:p>
          <a:p>
            <a:r>
              <a:rPr sz="1500" b="0">
                <a:solidFill>
                  <a:srgbClr val="B4DCB4"/>
                </a:solidFill>
                <a:latin typeface="Courier New" panose="02070309020205020404"/>
              </a:rPr>
              <a:t>    final_response  : str          # synthesized answer returned to UI</a:t>
            </a:r>
            <a:endParaRPr sz="1500" b="0">
              <a:solidFill>
                <a:srgbClr val="B4DCB4"/>
              </a:solidFill>
              <a:latin typeface="Courier New" panose="020703090202050204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08076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F9900"/>
                </a:solidFill>
              </a:rPr>
              <a:t>💡  Every node reads from and writes to this shared typed dict — no globals, no side effects</a:t>
            </a:r>
            <a:endParaRPr sz="1300" b="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C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LangGraph Workflow — build_graph()</a:t>
            </a:r>
            <a:endParaRPr sz="2600" b="1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11430000" cy="4754880"/>
          </a:xfrm>
          <a:prstGeom prst="rect">
            <a:avLst/>
          </a:prstGeom>
          <a:solidFill>
            <a:srgbClr val="1E1E28"/>
          </a:solidFill>
          <a:ln>
            <a:solidFill>
              <a:srgbClr val="505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10642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B4DCB4"/>
                </a:solidFill>
                <a:latin typeface="Courier New" panose="02070309020205020404"/>
              </a:rPr>
              <a:t># src/healthcoach/graph/workflow.py</a:t>
            </a:r>
            <a:endParaRPr sz="1500" b="0">
              <a:solidFill>
                <a:srgbClr val="B4DCB4"/>
              </a:solidFill>
              <a:latin typeface="Courier New" panose="02070309020205020404"/>
            </a:endParaRPr>
          </a:p>
          <a:p>
            <a:endParaRPr sz="1500"/>
          </a:p>
          <a:p>
            <a:r>
              <a:rPr sz="1500" b="0">
                <a:solidFill>
                  <a:srgbClr val="B4DCB4"/>
                </a:solidFill>
                <a:latin typeface="Courier New" panose="02070309020205020404"/>
              </a:rPr>
              <a:t>from langgraph.graph import END, StateGraph</a:t>
            </a:r>
            <a:endParaRPr sz="1500" b="0">
              <a:solidFill>
                <a:srgbClr val="B4DCB4"/>
              </a:solidFill>
              <a:latin typeface="Courier New" panose="02070309020205020404"/>
            </a:endParaRPr>
          </a:p>
          <a:p>
            <a:r>
              <a:rPr sz="1500" b="0">
                <a:solidFill>
                  <a:srgbClr val="B4DCB4"/>
                </a:solidFill>
                <a:latin typeface="Courier New" panose="02070309020205020404"/>
              </a:rPr>
              <a:t>from healthcoach.graph.nodes import load_context, supervisor_agent</a:t>
            </a:r>
            <a:endParaRPr sz="1500" b="0">
              <a:solidFill>
                <a:srgbClr val="B4DCB4"/>
              </a:solidFill>
              <a:latin typeface="Courier New" panose="02070309020205020404"/>
            </a:endParaRPr>
          </a:p>
          <a:p>
            <a:endParaRPr sz="1500"/>
          </a:p>
          <a:p>
            <a:r>
              <a:rPr sz="1500" b="0">
                <a:solidFill>
                  <a:srgbClr val="B4DCB4"/>
                </a:solidFill>
                <a:latin typeface="Courier New" panose="02070309020205020404"/>
              </a:rPr>
              <a:t>def build_graph():</a:t>
            </a:r>
            <a:endParaRPr sz="1500" b="0">
              <a:solidFill>
                <a:srgbClr val="B4DCB4"/>
              </a:solidFill>
              <a:latin typeface="Courier New" panose="02070309020205020404"/>
            </a:endParaRPr>
          </a:p>
          <a:p>
            <a:r>
              <a:rPr sz="1500" b="0">
                <a:solidFill>
                  <a:srgbClr val="B4DCB4"/>
                </a:solidFill>
                <a:latin typeface="Courier New" panose="02070309020205020404"/>
              </a:rPr>
              <a:t>    graph = StateGraph(HealthCoachState)</a:t>
            </a:r>
            <a:endParaRPr sz="1500" b="0">
              <a:solidFill>
                <a:srgbClr val="B4DCB4"/>
              </a:solidFill>
              <a:latin typeface="Courier New" panose="02070309020205020404"/>
            </a:endParaRPr>
          </a:p>
          <a:p>
            <a:r>
              <a:rPr sz="1500" b="0">
                <a:solidFill>
                  <a:srgbClr val="B4DCB4"/>
                </a:solidFill>
                <a:latin typeface="Courier New" panose="02070309020205020404"/>
              </a:rPr>
              <a:t>    graph.add_node('load_context', load_context)   # enrich state</a:t>
            </a:r>
            <a:endParaRPr sz="1500" b="0">
              <a:solidFill>
                <a:srgbClr val="B4DCB4"/>
              </a:solidFill>
              <a:latin typeface="Courier New" panose="02070309020205020404"/>
            </a:endParaRPr>
          </a:p>
          <a:p>
            <a:r>
              <a:rPr sz="1500" b="0">
                <a:solidFill>
                  <a:srgbClr val="B4DCB4"/>
                </a:solidFill>
                <a:latin typeface="Courier New" panose="02070309020205020404"/>
              </a:rPr>
              <a:t>    graph.add_node('supervisor',   supervisor_agent) # route + orchestrate</a:t>
            </a:r>
            <a:endParaRPr sz="1500" b="0">
              <a:solidFill>
                <a:srgbClr val="B4DCB4"/>
              </a:solidFill>
              <a:latin typeface="Courier New" panose="02070309020205020404"/>
            </a:endParaRPr>
          </a:p>
          <a:p>
            <a:r>
              <a:rPr sz="1500" b="0">
                <a:solidFill>
                  <a:srgbClr val="B4DCB4"/>
                </a:solidFill>
                <a:latin typeface="Courier New" panose="02070309020205020404"/>
              </a:rPr>
              <a:t>    graph.set_entry_point('load_context')</a:t>
            </a:r>
            <a:endParaRPr sz="1500" b="0">
              <a:solidFill>
                <a:srgbClr val="B4DCB4"/>
              </a:solidFill>
              <a:latin typeface="Courier New" panose="02070309020205020404"/>
            </a:endParaRPr>
          </a:p>
          <a:p>
            <a:r>
              <a:rPr sz="1500" b="0">
                <a:solidFill>
                  <a:srgbClr val="B4DCB4"/>
                </a:solidFill>
                <a:latin typeface="Courier New" panose="02070309020205020404"/>
              </a:rPr>
              <a:t>    graph.add_edge('load_context', 'supervisor')</a:t>
            </a:r>
            <a:endParaRPr sz="1500" b="0">
              <a:solidFill>
                <a:srgbClr val="B4DCB4"/>
              </a:solidFill>
              <a:latin typeface="Courier New" panose="02070309020205020404"/>
            </a:endParaRPr>
          </a:p>
          <a:p>
            <a:r>
              <a:rPr sz="1500" b="0">
                <a:solidFill>
                  <a:srgbClr val="B4DCB4"/>
                </a:solidFill>
                <a:latin typeface="Courier New" panose="02070309020205020404"/>
              </a:rPr>
              <a:t>    graph.add_edge('supervisor', END)</a:t>
            </a:r>
            <a:endParaRPr sz="1500" b="0">
              <a:solidFill>
                <a:srgbClr val="B4DCB4"/>
              </a:solidFill>
              <a:latin typeface="Courier New" panose="02070309020205020404"/>
            </a:endParaRPr>
          </a:p>
          <a:p>
            <a:r>
              <a:rPr sz="1500" b="0">
                <a:solidFill>
                  <a:srgbClr val="B4DCB4"/>
                </a:solidFill>
                <a:latin typeface="Courier New" panose="02070309020205020404"/>
              </a:rPr>
              <a:t>    return graph.compile()</a:t>
            </a:r>
            <a:endParaRPr sz="1500" b="0">
              <a:solidFill>
                <a:srgbClr val="B4DCB4"/>
              </a:solidFill>
              <a:latin typeface="Courier New" panose="020703090202050204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08076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F9900"/>
                </a:solidFill>
              </a:rPr>
              <a:t>💡  Deterministic execution: load_context → supervisor → END. Extendable to conditional branches.</a:t>
            </a:r>
            <a:endParaRPr sz="1300" b="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C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Specialist Tool Scoping — DOMAIN_TOOLSETS</a:t>
            </a:r>
            <a:endParaRPr sz="2600" b="1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11430000" cy="4754880"/>
          </a:xfrm>
          <a:prstGeom prst="rect">
            <a:avLst/>
          </a:prstGeom>
          <a:solidFill>
            <a:srgbClr val="1E1E28"/>
          </a:solidFill>
          <a:ln>
            <a:solidFill>
              <a:srgbClr val="505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10642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B4DCB4"/>
                </a:solidFill>
                <a:latin typeface="Courier New" panose="02070309020205020404"/>
              </a:rPr>
              <a:t># src/healthcoach/agents/react_executor.py</a:t>
            </a:r>
            <a:endParaRPr sz="1500" b="0">
              <a:solidFill>
                <a:srgbClr val="B4DCB4"/>
              </a:solidFill>
              <a:latin typeface="Courier New" panose="02070309020205020404"/>
            </a:endParaRPr>
          </a:p>
          <a:p>
            <a:endParaRPr sz="1500"/>
          </a:p>
          <a:p>
            <a:r>
              <a:rPr sz="1500" b="0">
                <a:solidFill>
                  <a:srgbClr val="B4DCB4"/>
                </a:solidFill>
                <a:latin typeface="Courier New" panose="02070309020205020404"/>
              </a:rPr>
              <a:t>DOMAIN_TOOLSETS = {</a:t>
            </a:r>
            <a:endParaRPr sz="1500" b="0">
              <a:solidFill>
                <a:srgbClr val="B4DCB4"/>
              </a:solidFill>
              <a:latin typeface="Courier New" panose="02070309020205020404"/>
            </a:endParaRPr>
          </a:p>
          <a:p>
            <a:r>
              <a:rPr sz="1500" b="0">
                <a:solidFill>
                  <a:srgbClr val="B4DCB4"/>
                </a:solidFill>
                <a:latin typeface="Courier New" panose="02070309020205020404"/>
              </a:rPr>
              <a:t>    'wellness'       : ('sleep_summary', 'wellness_docs', 'user_context'),</a:t>
            </a:r>
            <a:endParaRPr sz="1500" b="0">
              <a:solidFill>
                <a:srgbClr val="B4DCB4"/>
              </a:solidFill>
              <a:latin typeface="Courier New" panose="02070309020205020404"/>
            </a:endParaRPr>
          </a:p>
          <a:p>
            <a:r>
              <a:rPr sz="1500" b="0">
                <a:solidFill>
                  <a:srgbClr val="B4DCB4"/>
                </a:solidFill>
                <a:latin typeface="Courier New" panose="02070309020205020404"/>
              </a:rPr>
              <a:t>    'fitness'        : ('workout_summary', 'sleep_summary', 'user_context'),</a:t>
            </a:r>
            <a:endParaRPr sz="1500" b="0">
              <a:solidFill>
                <a:srgbClr val="B4DCB4"/>
              </a:solidFill>
              <a:latin typeface="Courier New" panose="02070309020205020404"/>
            </a:endParaRPr>
          </a:p>
          <a:p>
            <a:r>
              <a:rPr sz="1500" b="0">
                <a:solidFill>
                  <a:srgbClr val="B4DCB4"/>
                </a:solidFill>
                <a:latin typeface="Courier New" panose="02070309020205020404"/>
              </a:rPr>
              <a:t>    'dietitian'      : ('nutrition_docs', 'user_context'),</a:t>
            </a:r>
            <a:endParaRPr sz="1500" b="0">
              <a:solidFill>
                <a:srgbClr val="B4DCB4"/>
              </a:solidFill>
              <a:latin typeface="Courier New" panose="02070309020205020404"/>
            </a:endParaRPr>
          </a:p>
          <a:p>
            <a:r>
              <a:rPr sz="1500" b="0">
                <a:solidFill>
                  <a:srgbClr val="B4DCB4"/>
                </a:solidFill>
                <a:latin typeface="Courier New" panose="02070309020205020404"/>
              </a:rPr>
              <a:t>    'mental_health'  : ('wellness_docs', 'user_context'),</a:t>
            </a:r>
            <a:endParaRPr sz="1500" b="0">
              <a:solidFill>
                <a:srgbClr val="B4DCB4"/>
              </a:solidFill>
              <a:latin typeface="Courier New" panose="02070309020205020404"/>
            </a:endParaRPr>
          </a:p>
          <a:p>
            <a:r>
              <a:rPr sz="1500" b="0">
                <a:solidFill>
                  <a:srgbClr val="B4DCB4"/>
                </a:solidFill>
                <a:latin typeface="Courier New" panose="02070309020205020404"/>
              </a:rPr>
              <a:t>    'maternal_health': ('nutrition_docs', 'wellness_docs', 'user_context'),</a:t>
            </a:r>
            <a:endParaRPr sz="1500" b="0">
              <a:solidFill>
                <a:srgbClr val="B4DCB4"/>
              </a:solidFill>
              <a:latin typeface="Courier New" panose="02070309020205020404"/>
            </a:endParaRPr>
          </a:p>
          <a:p>
            <a:r>
              <a:rPr sz="1500" b="0">
                <a:solidFill>
                  <a:srgbClr val="B4DCB4"/>
                </a:solidFill>
                <a:latin typeface="Courier New" panose="02070309020205020404"/>
              </a:rPr>
              <a:t>    'women_health'   : ('wellness_docs', 'nutrition_docs', 'user_context'),</a:t>
            </a:r>
            <a:endParaRPr sz="1500" b="0">
              <a:solidFill>
                <a:srgbClr val="B4DCB4"/>
              </a:solidFill>
              <a:latin typeface="Courier New" panose="02070309020205020404"/>
            </a:endParaRPr>
          </a:p>
          <a:p>
            <a:r>
              <a:rPr sz="1500" b="0">
                <a:solidFill>
                  <a:srgbClr val="B4DCB4"/>
                </a:solidFill>
                <a:latin typeface="Courier New" panose="02070309020205020404"/>
              </a:rPr>
              <a:t>}</a:t>
            </a:r>
            <a:endParaRPr sz="1500" b="0">
              <a:solidFill>
                <a:srgbClr val="B4DCB4"/>
              </a:solidFill>
              <a:latin typeface="Courier New" panose="020703090202050204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08076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F9900"/>
                </a:solidFill>
              </a:rPr>
              <a:t>💡  Each specialist only sees its scoped tools — prevents hallucination bleed between domains</a:t>
            </a:r>
            <a:endParaRPr sz="1300" b="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C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Creating a ReAct Specialist Agent</a:t>
            </a:r>
            <a:endParaRPr sz="2600" b="1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11430000" cy="4754880"/>
          </a:xfrm>
          <a:prstGeom prst="rect">
            <a:avLst/>
          </a:prstGeom>
          <a:solidFill>
            <a:srgbClr val="1E1E28"/>
          </a:solidFill>
          <a:ln>
            <a:solidFill>
              <a:srgbClr val="505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10642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B4DCB4"/>
                </a:solidFill>
                <a:latin typeface="Courier New" panose="02070309020205020404"/>
              </a:rPr>
              <a:t># src/healthcoach/agents/react_executor.py</a:t>
            </a:r>
            <a:endParaRPr sz="1500" b="0">
              <a:solidFill>
                <a:srgbClr val="B4DCB4"/>
              </a:solidFill>
              <a:latin typeface="Courier New" panose="02070309020205020404"/>
            </a:endParaRPr>
          </a:p>
          <a:p>
            <a:endParaRPr sz="1500"/>
          </a:p>
          <a:p>
            <a:r>
              <a:rPr sz="1500" b="0">
                <a:solidFill>
                  <a:srgbClr val="B4DCB4"/>
                </a:solidFill>
                <a:latin typeface="Courier New" panose="02070309020205020404"/>
              </a:rPr>
              <a:t>from langgraph.prebuilt import create_react_agent</a:t>
            </a:r>
            <a:endParaRPr sz="1500" b="0">
              <a:solidFill>
                <a:srgbClr val="B4DCB4"/>
              </a:solidFill>
              <a:latin typeface="Courier New" panose="02070309020205020404"/>
            </a:endParaRPr>
          </a:p>
          <a:p>
            <a:endParaRPr sz="1500"/>
          </a:p>
          <a:p>
            <a:r>
              <a:rPr sz="1500" b="0">
                <a:solidFill>
                  <a:srgbClr val="B4DCB4"/>
                </a:solidFill>
                <a:latin typeface="Courier New" panose="02070309020205020404"/>
              </a:rPr>
              <a:t>def run_domain_react(domain: str, state: HealthCoachState):</a:t>
            </a:r>
            <a:endParaRPr sz="1500" b="0">
              <a:solidFill>
                <a:srgbClr val="B4DCB4"/>
              </a:solidFill>
              <a:latin typeface="Courier New" panose="02070309020205020404"/>
            </a:endParaRPr>
          </a:p>
          <a:p>
            <a:r>
              <a:rPr sz="1500" b="0">
                <a:solidFill>
                  <a:srgbClr val="B4DCB4"/>
                </a:solidFill>
                <a:latin typeface="Courier New" panose="02070309020205020404"/>
              </a:rPr>
              <a:t>    llm          = get_chat_model()           # Azure OpenAI gpt-4o</a:t>
            </a:r>
            <a:endParaRPr sz="1500" b="0">
              <a:solidFill>
                <a:srgbClr val="B4DCB4"/>
              </a:solidFill>
              <a:latin typeface="Courier New" panose="02070309020205020404"/>
            </a:endParaRPr>
          </a:p>
          <a:p>
            <a:r>
              <a:rPr sz="1500" b="0">
                <a:solidFill>
                  <a:srgbClr val="B4DCB4"/>
                </a:solidFill>
                <a:latin typeface="Courier New" panose="02070309020205020404"/>
              </a:rPr>
              <a:t>    tools        = _build_tools(state)        # all available tools</a:t>
            </a:r>
            <a:endParaRPr sz="1500" b="0">
              <a:solidFill>
                <a:srgbClr val="B4DCB4"/>
              </a:solidFill>
              <a:latin typeface="Courier New" panose="02070309020205020404"/>
            </a:endParaRPr>
          </a:p>
          <a:p>
            <a:r>
              <a:rPr sz="1500" b="0">
                <a:solidFill>
                  <a:srgbClr val="B4DCB4"/>
                </a:solidFill>
                <a:latin typeface="Courier New" panose="02070309020205020404"/>
              </a:rPr>
              <a:t>    scoped_tools = [t for t in tools          # filter to domain only</a:t>
            </a:r>
            <a:endParaRPr sz="1500" b="0">
              <a:solidFill>
                <a:srgbClr val="B4DCB4"/>
              </a:solidFill>
              <a:latin typeface="Courier New" panose="02070309020205020404"/>
            </a:endParaRPr>
          </a:p>
          <a:p>
            <a:r>
              <a:rPr sz="1500" b="0">
                <a:solidFill>
                  <a:srgbClr val="B4DCB4"/>
                </a:solidFill>
                <a:latin typeface="Courier New" panose="02070309020205020404"/>
              </a:rPr>
              <a:t>                    if t.name in DOMAIN_TOOLSETS[domain]]</a:t>
            </a:r>
            <a:endParaRPr sz="1500" b="0">
              <a:solidFill>
                <a:srgbClr val="B4DCB4"/>
              </a:solidFill>
              <a:latin typeface="Courier New" panose="02070309020205020404"/>
            </a:endParaRPr>
          </a:p>
          <a:p>
            <a:r>
              <a:rPr sz="1500" b="0">
                <a:solidFill>
                  <a:srgbClr val="B4DCB4"/>
                </a:solidFill>
                <a:latin typeface="Courier New" panose="02070309020205020404"/>
              </a:rPr>
              <a:t>    agent = create_react_agent(</a:t>
            </a:r>
            <a:endParaRPr sz="1500" b="0">
              <a:solidFill>
                <a:srgbClr val="B4DCB4"/>
              </a:solidFill>
              <a:latin typeface="Courier New" panose="02070309020205020404"/>
            </a:endParaRPr>
          </a:p>
          <a:p>
            <a:r>
              <a:rPr sz="1500" b="0">
                <a:solidFill>
                  <a:srgbClr val="B4DCB4"/>
                </a:solidFill>
                <a:latin typeface="Courier New" panose="02070309020205020404"/>
              </a:rPr>
              <a:t>        model=llm, tools=scoped_tools, prompt=system_prompt</a:t>
            </a:r>
            <a:endParaRPr sz="1500" b="0">
              <a:solidFill>
                <a:srgbClr val="B4DCB4"/>
              </a:solidFill>
              <a:latin typeface="Courier New" panose="02070309020205020404"/>
            </a:endParaRPr>
          </a:p>
          <a:p>
            <a:r>
              <a:rPr sz="1500" b="0">
                <a:solidFill>
                  <a:srgbClr val="B4DCB4"/>
                </a:solidFill>
                <a:latin typeface="Courier New" panose="02070309020205020404"/>
              </a:rPr>
              <a:t>    )</a:t>
            </a:r>
            <a:endParaRPr sz="1500" b="0">
              <a:solidFill>
                <a:srgbClr val="B4DCB4"/>
              </a:solidFill>
              <a:latin typeface="Courier New" panose="02070309020205020404"/>
            </a:endParaRPr>
          </a:p>
          <a:p>
            <a:r>
              <a:rPr sz="1500" b="0">
                <a:solidFill>
                  <a:srgbClr val="B4DCB4"/>
                </a:solidFill>
                <a:latin typeface="Courier New" panose="02070309020205020404"/>
              </a:rPr>
              <a:t>    result = agent.invoke({'messages': [HumanMessage(content=user_msg)]})</a:t>
            </a:r>
            <a:endParaRPr sz="1500" b="0">
              <a:solidFill>
                <a:srgbClr val="B4DCB4"/>
              </a:solidFill>
              <a:latin typeface="Courier New" panose="020703090202050204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08076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F9900"/>
                </a:solidFill>
              </a:rPr>
              <a:t>💡  LangGraph prebuilt create_react_agent handles the Reason → Act → Observe loop automatically</a:t>
            </a:r>
            <a:endParaRPr sz="1300" b="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0"/>
            <a:ext cx="12188952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F9900"/>
                </a:solidFill>
              </a:rPr>
              <a:t>SECTION 03</a:t>
            </a:r>
            <a:endParaRPr sz="1600" b="0">
              <a:solidFill>
                <a:srgbClr val="FF99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Streamlit UI &amp; User Profile</a:t>
            </a:r>
            <a:endParaRPr sz="3600" b="1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D2E4FF"/>
                </a:solidFill>
              </a:rPr>
              <a:t>app.py — profile capture · state · chat flow</a:t>
            </a:r>
            <a:endParaRPr sz="2000" b="0">
              <a:solidFill>
                <a:srgbClr val="D2E4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C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Streamlit UI — app.py</a:t>
            </a:r>
            <a:endParaRPr sz="26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</a:rPr>
              <a:t>▸  Sidebar captures: User ID, Gender, Age, Zip/Pincode, Goal, Dietary Preference</a:t>
            </a:r>
            <a:endParaRPr sz="1900" b="0">
              <a:solidFill>
                <a:srgbClr val="222222"/>
              </a:solidFill>
            </a:endParaRP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</a:rPr>
              <a:t>▸  Chat input sends query to LangGraph graph via graph.invoke(initial_state)</a:t>
            </a:r>
            <a:endParaRPr sz="1900" b="0">
              <a:solidFill>
                <a:srgbClr val="222222"/>
              </a:solidFill>
            </a:endParaRP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</a:rPr>
              <a:t>▸  Initial state created with create_initial_state() — merges UI values into typed dict</a:t>
            </a:r>
            <a:endParaRPr sz="1900" b="0">
              <a:solidFill>
                <a:srgbClr val="222222"/>
              </a:solidFill>
            </a:endParaRP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</a:rPr>
              <a:t>▸  Agent response displayed in Streamlit chat_message block</a:t>
            </a:r>
            <a:endParaRPr sz="1900" b="0">
              <a:solidFill>
                <a:srgbClr val="222222"/>
              </a:solidFill>
            </a:endParaRP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</a:rPr>
              <a:t>▸  'Show agent facts' toggle reveals collected facts + evaluation scores</a:t>
            </a:r>
            <a:endParaRPr sz="1900" b="0">
              <a:solidFill>
                <a:srgbClr val="222222"/>
              </a:solidFill>
            </a:endParaRP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</a:rPr>
              <a:t>▸  Latency timer shows end-to-end response time in milliseconds</a:t>
            </a:r>
            <a:endParaRPr sz="1900" b="0">
              <a:solidFill>
                <a:srgbClr val="22222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46464"/>
                </a:solidFill>
              </a:rPr>
              <a:t>app.py — uses @st.cache_resource to build graph once per session</a:t>
            </a:r>
            <a:endParaRPr sz="1200" b="0">
              <a:solidFill>
                <a:srgbClr val="646464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0"/>
            <a:ext cx="12188952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F9900"/>
                </a:solidFill>
              </a:rPr>
              <a:t>SECTION 04</a:t>
            </a:r>
            <a:endParaRPr sz="1600" b="0">
              <a:solidFill>
                <a:srgbClr val="FF99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Azure Integrations</a:t>
            </a:r>
            <a:endParaRPr sz="3600" b="1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D2E4FF"/>
                </a:solidFill>
              </a:rPr>
              <a:t>OpenAI · AI Search · Cosmos DB · Storage</a:t>
            </a:r>
            <a:endParaRPr sz="2000" b="0">
              <a:solidFill>
                <a:srgbClr val="D2E4FF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C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Azure Service Integrations</a:t>
            </a:r>
            <a:endParaRPr sz="26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</a:rPr>
              <a:t>▸  Azure OpenAI (gpt-4o):  powers supervisor and all 6 specialist ReAct agents</a:t>
            </a:r>
            <a:endParaRPr sz="1900" b="0">
              <a:solidFill>
                <a:srgbClr val="222222"/>
              </a:solidFill>
            </a:endParaRP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</a:rPr>
              <a:t>▸  Azure AI Search:  semantic retrieval of wellness and nutrition document indexes</a:t>
            </a:r>
            <a:endParaRPr sz="1900" b="0">
              <a:solidFill>
                <a:srgbClr val="222222"/>
              </a:solidFill>
            </a:endParaRP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646464"/>
                </a:solidFill>
              </a:rPr>
              <a:t>    wellness-index and nutrition-index — grounded evidence for specialist tools</a:t>
            </a:r>
            <a:endParaRPr sz="1700" b="0">
              <a:solidFill>
                <a:srgbClr val="646464"/>
              </a:solidFill>
            </a:endParaRP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</a:rPr>
              <a:t>▸  Azure Cosmos DB:  conversation state, user profiles, workout logs</a:t>
            </a:r>
            <a:endParaRPr sz="1900" b="0">
              <a:solidFill>
                <a:srgbClr val="222222"/>
              </a:solidFill>
            </a:endParaRP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</a:rPr>
              <a:t>▸  Azure Storage (File Share):  raw wellness document hosting before indexing</a:t>
            </a:r>
            <a:endParaRPr sz="1900" b="0">
              <a:solidFill>
                <a:srgbClr val="222222"/>
              </a:solidFill>
            </a:endParaRP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</a:rPr>
              <a:t>▸  Application Insights:  telemetry and connection string in .env.example</a:t>
            </a:r>
            <a:endParaRPr sz="1900" b="0">
              <a:solidFill>
                <a:srgbClr val="222222"/>
              </a:solidFill>
            </a:endParaRP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</a:rPr>
              <a:t>▸  All credentials via .env — .gitignore excludes .env from commits</a:t>
            </a:r>
            <a:endParaRPr sz="1900" b="0">
              <a:solidFill>
                <a:srgbClr val="22222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46464"/>
                </a:solidFill>
              </a:rPr>
              <a:t>Graceful fallback: app runs in demo mode when Azure credentials are not configured</a:t>
            </a:r>
            <a:endParaRPr sz="1200" b="0">
              <a:solidFill>
                <a:srgbClr val="646464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0"/>
            <a:ext cx="12188952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F9900"/>
                </a:solidFill>
              </a:rPr>
              <a:t>SECTION 05</a:t>
            </a:r>
            <a:endParaRPr sz="1600" b="0">
              <a:solidFill>
                <a:srgbClr val="FF99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Evaluation &amp; LangSmith Tracing</a:t>
            </a:r>
            <a:endParaRPr sz="3600" b="1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D2E4FF"/>
                </a:solidFill>
              </a:rPr>
              <a:t>criteria.py · langsmith_feedback.py · batch eval</a:t>
            </a:r>
            <a:endParaRPr sz="2000" b="0">
              <a:solidFill>
                <a:srgbClr val="D2E4FF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3D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4008"/>
          </a:xfrm>
          <a:prstGeom prst="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44562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Technical Architecture — Azure &amp; AI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8505" y="10972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AACCFF"/>
                </a:solidFill>
              </a:rPr>
              <a:t>Architecture Diagram</a:t>
            </a:r>
          </a:p>
        </p:txBody>
      </p:sp>
      <p:pic>
        <p:nvPicPr>
          <p:cNvPr id="5" name="Picture 4" descr="tech_mhc.draw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49808"/>
            <a:ext cx="11731625" cy="5623560"/>
          </a:xfrm>
          <a:prstGeom prst="rect">
            <a:avLst/>
          </a:prstGeom>
        </p:spPr>
      </p:pic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5745" y="6263640"/>
            <a:ext cx="164592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C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Custom Evaluation Scoring</a:t>
            </a:r>
            <a:endParaRPr sz="26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</a:rPr>
              <a:t>▸  Evaluation happens after every graph.invoke() — automatic, not manual</a:t>
            </a:r>
            <a:endParaRPr sz="1900" b="0">
              <a:solidFill>
                <a:srgbClr val="222222"/>
              </a:solidFill>
            </a:endParaRP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</a:rPr>
              <a:t>▸  criteria.py defines a weighted multi-criterion rubric:</a:t>
            </a:r>
            <a:endParaRPr sz="1900" b="0">
              <a:solidFill>
                <a:srgbClr val="222222"/>
              </a:solidFill>
            </a:endParaRP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646464"/>
                </a:solidFill>
              </a:rPr>
              <a:t>    relevance · completeness · safety · actionability · personalization</a:t>
            </a:r>
            <a:endParaRPr sz="1700" b="0">
              <a:solidFill>
                <a:srgbClr val="646464"/>
              </a:solidFill>
            </a:endParaRP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</a:rPr>
              <a:t>▸  Each criterion is scored 0–1, combined into an overall weighted score</a:t>
            </a:r>
            <a:endParaRPr sz="1900" b="0">
              <a:solidFill>
                <a:srgbClr val="222222"/>
              </a:solidFill>
            </a:endParaRP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</a:rPr>
              <a:t>▸  evaluate_agentic_run() returns scores, reasons, and a pass/fail flag</a:t>
            </a:r>
            <a:endParaRPr sz="1900" b="0">
              <a:solidFill>
                <a:srgbClr val="222222"/>
              </a:solidFill>
            </a:endParaRP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</a:rPr>
              <a:t>▸  build_langsmith_feedback_payload() maps scores to LangSmith feedback keys</a:t>
            </a:r>
            <a:endParaRPr sz="1900" b="0">
              <a:solidFill>
                <a:srgbClr val="222222"/>
              </a:solidFill>
            </a:endParaRP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</a:rPr>
              <a:t>▸  submit_feedback() attaches scores directly to a run_id in LangSmith UI</a:t>
            </a:r>
            <a:endParaRPr sz="1900" b="0">
              <a:solidFill>
                <a:srgbClr val="22222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46464"/>
                </a:solidFill>
              </a:rPr>
              <a:t>scripts/run_batch_eval.py — runs 20 fixed cases and writes batch_eval_report.json</a:t>
            </a:r>
            <a:endParaRPr sz="1200" b="0">
              <a:solidFill>
                <a:srgbClr val="646464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825" cy="76200"/>
          </a:xfrm>
          <a:prstGeom prst="rect">
            <a:avLst/>
          </a:prstGeom>
          <a:solidFill>
            <a:srgbClr val="F5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6E00"/>
                </a:solidFill>
              </a:rPr>
              <a:t>Evaluation — The 6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4F7"/>
                </a:solidFill>
              </a:rPr>
              <a:t>Each check has an independent pass threshold and weight in the weighted average.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6E00"/>
                </a:solidFill>
              </a:rPr>
              <a:t>CHECK KEY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234440"/>
            <a:ext cx="6080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6E00"/>
                </a:solidFill>
              </a:rPr>
              <a:t>WHAT IT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1234440"/>
            <a:ext cx="822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6E00"/>
                </a:solidFill>
              </a:rPr>
              <a:t>WEIGHT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1234440"/>
            <a:ext cx="822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6E00"/>
                </a:solidFill>
              </a:rPr>
              <a:t>THRESHOLD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722628"/>
            <a:ext cx="11548745" cy="47548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760728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domain_routing_accuracy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760728"/>
            <a:ext cx="6080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Did the supervisor call the RIGHT specialist tools?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920" y="1760728"/>
            <a:ext cx="822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BF00"/>
                </a:solidFill>
              </a:rPr>
              <a:t>22%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1760728"/>
            <a:ext cx="822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9647"/>
                </a:solidFill>
              </a:rPr>
              <a:t>&gt;= 0.70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223516"/>
            <a:ext cx="11548745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261616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tool_usage_grounding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261616"/>
            <a:ext cx="6080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Is the answer grounded in tool output — not LLM memory?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6920" y="2261616"/>
            <a:ext cx="822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BF00"/>
                </a:solidFill>
              </a:rPr>
              <a:t>15%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2261616"/>
            <a:ext cx="822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9647"/>
                </a:solidFill>
              </a:rPr>
              <a:t>&gt;= 0.60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724404"/>
            <a:ext cx="11548745" cy="47548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762504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response_actionability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2762504"/>
            <a:ext cx="6080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Is the advice specific, practical, and actionable?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2762504"/>
            <a:ext cx="822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BF00"/>
                </a:solidFill>
              </a:rPr>
              <a:t>14%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2762504"/>
            <a:ext cx="822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9647"/>
                </a:solidFill>
              </a:rPr>
              <a:t>&gt;= 0.60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225292"/>
            <a:ext cx="11548745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263392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safety_and_escalation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3263392"/>
            <a:ext cx="6080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Does the response include safety warnings and escalation cues?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20" y="3263392"/>
            <a:ext cx="822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BF00"/>
                </a:solidFill>
              </a:rPr>
              <a:t>20%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3263392"/>
            <a:ext cx="822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9647"/>
                </a:solidFill>
              </a:rPr>
              <a:t>&gt;= 0.75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726180"/>
            <a:ext cx="11548745" cy="47548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3764280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doctor_lookup_behavior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3764280"/>
            <a:ext cx="6080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Did find_nearby_doctors run and return structured results?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6920" y="3764280"/>
            <a:ext cx="822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BF00"/>
                </a:solidFill>
              </a:rPr>
              <a:t>14%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3764280"/>
            <a:ext cx="822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9647"/>
                </a:solidFill>
              </a:rPr>
              <a:t>&gt;= 0.70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227068"/>
            <a:ext cx="11548745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4265168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latency_budget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0" y="4265168"/>
            <a:ext cx="6080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Did the full run finish within the latency budget?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6920" y="4265168"/>
            <a:ext cx="822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BF00"/>
                </a:solidFill>
              </a:rPr>
              <a:t>15%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4265168"/>
            <a:ext cx="822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9647"/>
                </a:solidFill>
              </a:rPr>
              <a:t>&gt;= 0.70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577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6E00"/>
                </a:solidFill>
              </a:rPr>
              <a:t>Overall Score  =  Sum(check_score x weight)   |   Passed when overall &gt;= 0.75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825" cy="76200"/>
          </a:xfrm>
          <a:prstGeom prst="rect">
            <a:avLst/>
          </a:prstGeom>
          <a:solidFill>
            <a:srgbClr val="F5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6E00"/>
                </a:solidFill>
              </a:rPr>
              <a:t>How the Weighted Score Is Calculated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5120640" cy="4389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6E00"/>
                </a:solidFill>
              </a:rPr>
              <a:t>Overall Score  =  Sum(score_i  x  weight_i)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2F4F7"/>
                </a:solidFill>
              </a:rPr>
              <a:t>domain_routing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508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647"/>
                </a:solidFill>
              </a:rPr>
              <a:t>1.0  x  0.22  =  0.220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29967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2F4F7"/>
                </a:solidFill>
              </a:rPr>
              <a:t>tool_grounding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029967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647"/>
                </a:solidFill>
              </a:rPr>
              <a:t>1.0  x  0.15  =  0.150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51174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2F4F7"/>
                </a:solidFill>
              </a:rPr>
              <a:t>actionability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55117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647"/>
                </a:solidFill>
              </a:rPr>
              <a:t>1.0  x  0.14  =  0.140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72381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2F4F7"/>
                </a:solidFill>
              </a:rPr>
              <a:t>safety_escalation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3072381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647"/>
                </a:solidFill>
              </a:rPr>
              <a:t>1.0  x  0.20  =  0.200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9358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2F4F7"/>
                </a:solidFill>
              </a:rPr>
              <a:t>doctor_lookup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359358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647"/>
                </a:solidFill>
              </a:rPr>
              <a:t>1.0  x  0.14  =  0.140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114795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2F4F7"/>
                </a:solidFill>
              </a:rPr>
              <a:t>latency_budget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4114795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BF00"/>
                </a:solidFill>
              </a:rPr>
              <a:t>0.85 x  0.15  =  0.128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663440"/>
            <a:ext cx="4480560" cy="25400"/>
          </a:xfrm>
          <a:prstGeom prst="rect">
            <a:avLst/>
          </a:prstGeom>
          <a:solidFill>
            <a:srgbClr val="F5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7548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9647"/>
                </a:solidFill>
              </a:rPr>
              <a:t>TOTAL  =  0.978     Passed (&gt;= 0.75)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8686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6E00"/>
                </a:solidFill>
              </a:rPr>
              <a:t>Why only 0.85 on latency?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60" y="1463040"/>
            <a:ext cx="5029200" cy="30175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155448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Target:    &lt;= 8,000 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1856232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BF00"/>
                </a:solidFill>
              </a:rPr>
              <a:t>Actual:    11,491 ms  (two sequential agent calls)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2157984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2459736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6B6C2"/>
                </a:solidFill>
              </a:rPr>
              <a:t>score = max(0,  1 - (elapsed - target) / 10000)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276148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6B6C2"/>
                </a:solidFill>
              </a:rPr>
              <a:t>      = max(0,  1 - (11491 - 8000) / 10000)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306324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6B6C2"/>
                </a:solidFill>
              </a:rPr>
              <a:t>      = max(0,  1 - 0.3491)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3364992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9647"/>
                </a:solidFill>
              </a:rPr>
              <a:t>      = 0.85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3666744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3968496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9647"/>
                </a:solidFill>
              </a:rPr>
              <a:t>Still PASSES — threshold is only 0.70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4617720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2F4F7"/>
                </a:solidFill>
              </a:rPr>
              <a:t>Why slow?  Two sequential calls:
  1.  consult_medicines_advisor  (Azure OpenAI + AI Search)
  2.  find_nearby_doctors  (NPI Registry HTTP)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825" cy="76200"/>
          </a:xfrm>
          <a:prstGeom prst="rect">
            <a:avLst/>
          </a:prstGeom>
          <a:solidFill>
            <a:srgbClr val="F5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6E00"/>
                </a:solidFill>
              </a:rPr>
              <a:t>Live Run — Eye Flu Query   |   Score: 0.978   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2F4F7"/>
                </a:solidFill>
              </a:rPr>
              <a:t>Query: "I am having eye flu symptoms"   |   zip_code: 08816   |   Latency: 11,491 ms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70432"/>
            <a:ext cx="5577840" cy="4846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1615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6E00"/>
                </a:solidFill>
              </a:rPr>
              <a:t>collected_facts  (medicines domain)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64208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BF00"/>
                </a:solidFill>
              </a:rPr>
              <a:t>recommendation: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66420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Use artificial tears / lubricating eye drops.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1031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Cold compresses to reduce swelling.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542032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Wash hands. Avoid touching eyes.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80944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BF00"/>
                </a:solidFill>
              </a:rPr>
              <a:t>rationale: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980944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Artificial tears alleviate dryness.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419856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Cold compresses reduce discomfort.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85876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Hygiene prevents further spread.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9768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BF00"/>
                </a:solidFill>
              </a:rPr>
              <a:t>safety_note: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29768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Avoid steroid/antibiotic drops without doctor.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736592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If symptoms persist &gt;3 days see a doctor.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175504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BF00"/>
                </a:solidFill>
              </a:rPr>
              <a:t>confidence: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5175504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170432"/>
            <a:ext cx="4754880" cy="4846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121615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6E00"/>
                </a:solidFill>
              </a:rPr>
              <a:t>Evaluation Result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60" y="1638808"/>
            <a:ext cx="4663440" cy="502920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166420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domain_routing_accuracy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166420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009647"/>
                </a:solidFill>
              </a:rPr>
              <a:t>1.0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2205736"/>
            <a:ext cx="4663440" cy="502920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223113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tool_usage_grounding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2231136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009647"/>
                </a:solidFill>
              </a:rPr>
              <a:t>1.0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2772664"/>
            <a:ext cx="4663440" cy="502920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2798064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response_actionability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55480" y="2798064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009647"/>
                </a:solidFill>
              </a:rPr>
              <a:t>1.0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3339592"/>
            <a:ext cx="4663440" cy="502920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336499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safety_and_escalation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55480" y="3364992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009647"/>
                </a:solidFill>
              </a:rPr>
              <a:t>1.0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3906520"/>
            <a:ext cx="4663440" cy="502920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72200" y="3931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doctor_lookup_behavior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55480" y="39319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009647"/>
                </a:solidFill>
              </a:rPr>
              <a:t>1.0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80760" y="4473448"/>
            <a:ext cx="4663440" cy="502920"/>
          </a:xfrm>
          <a:prstGeom prst="rect">
            <a:avLst/>
          </a:prstGeom>
          <a:solidFill>
            <a:srgbClr val="7A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72200" y="449884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latency_budget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55480" y="449884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BF00"/>
                </a:solidFill>
              </a:rPr>
              <a:t>0.85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80760" y="5166360"/>
            <a:ext cx="4572000" cy="25400"/>
          </a:xfrm>
          <a:prstGeom prst="rect">
            <a:avLst/>
          </a:prstGeom>
          <a:solidFill>
            <a:srgbClr val="F5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72200" y="525780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09647"/>
                </a:solidFill>
              </a:rPr>
              <a:t>OVERALL  =  0.978     PASSED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825" cy="76200"/>
          </a:xfrm>
          <a:prstGeom prst="rect">
            <a:avLst/>
          </a:prstGeom>
          <a:solidFill>
            <a:srgbClr val="F5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56E00"/>
                </a:solidFill>
              </a:rPr>
              <a:t>How It Is Implemented — criteria.py &amp; react_executor.py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41248"/>
            <a:ext cx="5349240" cy="5212080"/>
          </a:xfrm>
          <a:prstGeom prst="rect">
            <a:avLst/>
          </a:prstGeom>
          <a:solidFill>
            <a:srgbClr val="0A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869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BF00"/>
                </a:solidFill>
              </a:rPr>
              <a:t>src/healthcoach/evaluation/criteria.py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BF00"/>
                </a:solidFill>
              </a:rPr>
              <a:t># 6 weighted checks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996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CHECKS = [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148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  EvalCheck("domain_routing_accuracy",  wt=0.22, thr=0.70),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8300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  EvalCheck("tool_usage_grounding",     wt=0.15, thr=0.60),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4452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  EvalCheck("response_actionability",   wt=0.14, thr=0.60),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0603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  EvalCheck("safety_and_escalation",    wt=0.20, thr=0.75),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6755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  EvalCheck("doctor_lookup_behavior",   wt=0.14, thr=0.70),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2907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  EvalCheck("latency_budget",           wt=0.15, thr=0.70),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9059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65211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1362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BF00"/>
                </a:solidFill>
              </a:rPr>
              <a:t># Latency scoring formula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17514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6B6C2"/>
                </a:solidFill>
              </a:rPr>
              <a:t>def _score_latency(elapsed_ms):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43666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    target = 8_000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69818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    return max(0.0, 1-(elapsed_ms-target)/10_000)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95970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22121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BF00"/>
                </a:solidFill>
              </a:rPr>
              <a:t># Fever/symptom paired domain routing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48273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if any(h in query for h in _FEVER_LIKE_HINTS):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74425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647"/>
                </a:solidFill>
              </a:rPr>
              <a:t>    expected |= {"wellness", "medicines"}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52160" y="841248"/>
            <a:ext cx="5029200" cy="5212080"/>
          </a:xfrm>
          <a:prstGeom prst="rect">
            <a:avLst/>
          </a:prstGeom>
          <a:solidFill>
            <a:srgbClr val="0A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0" y="88696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BF00"/>
                </a:solidFill>
              </a:rPr>
              <a:t>src/healthcoach/agents/react_executor.py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1298448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BF00"/>
                </a:solidFill>
              </a:rPr>
              <a:t># Supervisor MUST call tools before answering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1523390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system_prompt = (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1748332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  "IMPORTANT: You MUST always call at least"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1973274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  " one specialist advisor tool before answering."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2198216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  " Never answer from your own knowledge."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2423158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2F4F7"/>
                </a:solidFill>
              </a:rPr>
              <a:t>  ...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2648100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2873042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3097984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BF00"/>
                </a:solidFill>
              </a:rPr>
              <a:t># Preserve full advisor JSON — no truncation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3322926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is_consult = tool_name.startswith('consult_')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3547868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observation = (content if is_consult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3772810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               else content[:2000])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3997752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4222694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BF00"/>
                </a:solidFill>
              </a:rPr>
              <a:t># Rebuild collected_facts from tool trace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4447636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for item in tool_trace: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4672578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    domain = (item['tool']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0" y="4897520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              .replace('consult_','')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5122462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              .replace('_advisor',''))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5347404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    collected_facts[domain] = json.loads(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0" y="5572346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        item['observation'])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0"/>
            <a:ext cx="12188952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F9900"/>
                </a:solidFill>
              </a:rPr>
              <a:t>SECTION 06</a:t>
            </a:r>
            <a:endParaRPr sz="1600" b="0">
              <a:solidFill>
                <a:srgbClr val="FF99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Provider Lookup</a:t>
            </a:r>
            <a:endParaRPr sz="3600" b="1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D2E4FF"/>
                </a:solidFill>
              </a:rPr>
              <a:t>US NPI Registry + India Overpass/Nominatim APIs</a:t>
            </a:r>
            <a:endParaRPr sz="2000" b="0">
              <a:solidFill>
                <a:srgbClr val="D2E4FF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C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Nearby Doctor Lookup — US and India</a:t>
            </a:r>
            <a:endParaRPr sz="2600" b="1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20040" y="1143000"/>
            <a:ext cx="5394960" cy="5303520"/>
          </a:xfrm>
          <a:prstGeom prst="rect">
            <a:avLst/>
          </a:prstGeom>
          <a:solidFill>
            <a:srgbClr val="EBF2FF"/>
          </a:solidFill>
          <a:ln>
            <a:solidFill>
              <a:srgbClr val="0C3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C3D82"/>
                </a:solidFill>
              </a:rPr>
              <a:t>US: NPI Registry API</a:t>
            </a:r>
            <a:endParaRPr sz="1600" b="1">
              <a:solidFill>
                <a:srgbClr val="0C3D8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0">
                <a:solidFill>
                  <a:srgbClr val="222222"/>
                </a:solidFill>
              </a:rPr>
              <a:t>▸  Input: US zip code (5-digit)</a:t>
            </a:r>
            <a:endParaRPr sz="1700" b="0">
              <a:solidFill>
                <a:srgbClr val="222222"/>
              </a:solidFill>
            </a:endParaRP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222222"/>
                </a:solidFill>
              </a:rPr>
              <a:t>▸  API: CMS NPI Registry (public, no key required)</a:t>
            </a:r>
            <a:endParaRPr sz="1700" b="0">
              <a:solidFill>
                <a:srgbClr val="222222"/>
              </a:solidFill>
            </a:endParaRP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222222"/>
                </a:solidFill>
              </a:rPr>
              <a:t>▸  Returns licensed providers near the zip</a:t>
            </a:r>
            <a:endParaRPr sz="1700" b="0">
              <a:solidFill>
                <a:srgbClr val="222222"/>
              </a:solidFill>
            </a:endParaRP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222222"/>
                </a:solidFill>
              </a:rPr>
              <a:t>▸  Fields: name, specialty, address, NPI number</a:t>
            </a:r>
            <a:endParaRPr sz="1700" b="0">
              <a:solidFill>
                <a:srgbClr val="222222"/>
              </a:solidFill>
            </a:endParaRP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222222"/>
                </a:solidFill>
              </a:rPr>
              <a:t>▸  Used when query suggests a clinical concern</a:t>
            </a:r>
            <a:endParaRPr sz="1700" b="0">
              <a:solidFill>
                <a:srgbClr val="22222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46520" y="1143000"/>
            <a:ext cx="5394960" cy="5303520"/>
          </a:xfrm>
          <a:prstGeom prst="rect">
            <a:avLst/>
          </a:prstGeom>
          <a:solidFill>
            <a:srgbClr val="FFFAEB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2344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A05A00"/>
                </a:solidFill>
              </a:rPr>
              <a:t>India: Nominatim + Overpass API</a:t>
            </a:r>
            <a:endParaRPr sz="1600" b="1">
              <a:solidFill>
                <a:srgbClr val="A05A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29400" y="17373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0">
                <a:solidFill>
                  <a:srgbClr val="222222"/>
                </a:solidFill>
              </a:rPr>
              <a:t>▸  Input: India pincode (6-digit)</a:t>
            </a:r>
            <a:endParaRPr sz="1700" b="0">
              <a:solidFill>
                <a:srgbClr val="222222"/>
              </a:solidFill>
            </a:endParaRP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222222"/>
                </a:solidFill>
              </a:rPr>
              <a:t>▸  Step 1: Nominatim geocodes pincode → lat/lon</a:t>
            </a:r>
            <a:endParaRPr sz="1700" b="0">
              <a:solidFill>
                <a:srgbClr val="222222"/>
              </a:solidFill>
            </a:endParaRP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222222"/>
                </a:solidFill>
              </a:rPr>
              <a:t>▸  Step 2: Overpass QL queries healthcare nodes</a:t>
            </a:r>
            <a:endParaRPr sz="1700" b="0">
              <a:solidFill>
                <a:srgbClr val="222222"/>
              </a:solidFill>
            </a:endParaRP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222222"/>
                </a:solidFill>
              </a:rPr>
              <a:t>▸  Radius: 15 km from the pincode centroid</a:t>
            </a:r>
            <a:endParaRPr sz="1700" b="0">
              <a:solidFill>
                <a:srgbClr val="222222"/>
              </a:solidFill>
            </a:endParaRP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222222"/>
                </a:solidFill>
              </a:rPr>
              <a:t>▸  Returns: clinic/hospital names and locations</a:t>
            </a:r>
            <a:endParaRPr sz="1700" b="0">
              <a:solidFill>
                <a:srgbClr val="22222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0"/>
            <a:ext cx="12188952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F9900"/>
                </a:solidFill>
              </a:rPr>
              <a:t>SECTION 07</a:t>
            </a:r>
            <a:endParaRPr sz="1600" b="0">
              <a:solidFill>
                <a:srgbClr val="FF99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Live Demo</a:t>
            </a:r>
            <a:endParaRPr sz="3600" b="1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D2E4FF"/>
                </a:solidFill>
              </a:rPr>
              <a:t>Query: 'I am a pre-diabetic patient'</a:t>
            </a:r>
            <a:endParaRPr sz="2000" b="0">
              <a:solidFill>
                <a:srgbClr val="D2E4FF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C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Demo — User Request</a:t>
            </a:r>
            <a:endParaRPr sz="2600" b="1">
              <a:solidFill>
                <a:srgbClr val="FFFFFF"/>
              </a:solidFill>
            </a:endParaRPr>
          </a:p>
        </p:txBody>
      </p:sp>
      <p:sp>
        <p:nvSpPr>
          <p:cNvPr id="4" name="Diamond 3"/>
          <p:cNvSpPr/>
          <p:nvPr/>
        </p:nvSpPr>
        <p:spPr>
          <a:xfrm>
            <a:off x="5029200" y="1188720"/>
            <a:ext cx="6675120" cy="777240"/>
          </a:xfrm>
          <a:prstGeom prst="diamond">
            <a:avLst/>
          </a:prstGeom>
          <a:solidFill>
            <a:srgbClr val="0C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User:  i am a pre diabatic patient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98247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70C0"/>
                </a:solidFill>
              </a:rPr>
              <a:t>Supervisor → routes to → Dietitian + Wellness + Fitness specialists</a:t>
            </a:r>
            <a:endParaRPr sz="1400" b="0">
              <a:solidFill>
                <a:srgbClr val="0070C0"/>
              </a:solidFill>
            </a:endParaRPr>
          </a:p>
        </p:txBody>
      </p:sp>
      <p:sp>
        <p:nvSpPr>
          <p:cNvPr id="6" name="Diamond 5"/>
          <p:cNvSpPr/>
          <p:nvPr/>
        </p:nvSpPr>
        <p:spPr>
          <a:xfrm>
            <a:off x="457200" y="2322830"/>
            <a:ext cx="10721975" cy="4337050"/>
          </a:xfrm>
          <a:prstGeom prst="diamond">
            <a:avLst/>
          </a:prstGeom>
          <a:solidFill>
            <a:srgbClr val="EBF2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C3D82"/>
                </a:solidFill>
              </a:rPr>
              <a:t>MyHealthCoach:</a:t>
            </a:r>
            <a:endParaRPr sz="1500" b="1">
              <a:solidFill>
                <a:srgbClr val="0C3D82"/>
              </a:solidFill>
            </a:endParaRP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222222"/>
                </a:solidFill>
              </a:rPr>
              <a:t>Routing in progress…</a:t>
            </a:r>
            <a:endParaRPr sz="1600" b="0">
              <a:solidFill>
                <a:srgbClr val="222222"/>
              </a:solidFill>
            </a:endParaRP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222222"/>
                </a:solidFill>
              </a:rPr>
              <a:t>  ▸ Supervisor reading intent → routes to dietitian, wellness, fitness</a:t>
            </a:r>
            <a:endParaRPr sz="1600" b="0">
              <a:solidFill>
                <a:srgbClr val="222222"/>
              </a:solidFill>
            </a:endParaRP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222222"/>
                </a:solidFill>
              </a:rPr>
              <a:t>  ▸ Dietitian agent calling nutrition_docs and user_context tools</a:t>
            </a:r>
            <a:endParaRPr sz="1600" b="0">
              <a:solidFill>
                <a:srgbClr val="222222"/>
              </a:solidFill>
            </a:endParaRP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222222"/>
                </a:solidFill>
              </a:rPr>
              <a:t>  ▸ Wellness agent calling wellness_docs and sleep_summary tools</a:t>
            </a:r>
            <a:endParaRPr sz="1600" b="0">
              <a:solidFill>
                <a:srgbClr val="222222"/>
              </a:solidFill>
            </a:endParaRP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222222"/>
                </a:solidFill>
              </a:rPr>
              <a:t>  ▸ Fitness agent calling workout_summary and sleep_summary tools</a:t>
            </a:r>
            <a:endParaRPr sz="1600" b="0">
              <a:solidFill>
                <a:srgbClr val="222222"/>
              </a:solidFill>
            </a:endParaRP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222222"/>
                </a:solidFill>
              </a:rPr>
              <a:t>  ▸ Supervisor synthesizing collected facts into final response</a:t>
            </a:r>
            <a:endParaRPr sz="1600" b="0">
              <a:solidFill>
                <a:srgbClr val="222222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C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Demo — Agent Response</a:t>
            </a:r>
            <a:endParaRPr sz="2600" b="1">
              <a:solidFill>
                <a:srgbClr val="FFFFFF"/>
              </a:solidFill>
            </a:endParaRPr>
          </a:p>
        </p:txBody>
      </p:sp>
      <p:sp>
        <p:nvSpPr>
          <p:cNvPr id="4" name="Diamond 3"/>
          <p:cNvSpPr/>
          <p:nvPr/>
        </p:nvSpPr>
        <p:spPr>
          <a:xfrm>
            <a:off x="5029200" y="1188720"/>
            <a:ext cx="6675120" cy="777240"/>
          </a:xfrm>
          <a:prstGeom prst="diamond">
            <a:avLst/>
          </a:prstGeom>
          <a:solidFill>
            <a:srgbClr val="0C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User:  i am a pre diabatic patient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70C0"/>
                </a:solidFill>
              </a:rPr>
              <a:t>Supervisor → routes to → Dietitian + Wellness + Fitness specialists</a:t>
            </a:r>
            <a:endParaRPr sz="1400" b="0">
              <a:solidFill>
                <a:srgbClr val="0070C0"/>
              </a:solidFill>
            </a:endParaRPr>
          </a:p>
        </p:txBody>
      </p:sp>
      <p:sp>
        <p:nvSpPr>
          <p:cNvPr id="6" name="Diamond 5"/>
          <p:cNvSpPr/>
          <p:nvPr/>
        </p:nvSpPr>
        <p:spPr>
          <a:xfrm>
            <a:off x="457200" y="2606040"/>
            <a:ext cx="11338560" cy="3749039"/>
          </a:xfrm>
          <a:prstGeom prst="diamond">
            <a:avLst/>
          </a:prstGeom>
          <a:solidFill>
            <a:srgbClr val="EBF2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C3D82"/>
                </a:solidFill>
              </a:rPr>
              <a:t>MyHealthCoach:</a:t>
            </a:r>
            <a:endParaRPr sz="1500" b="1">
              <a:solidFill>
                <a:srgbClr val="0C3D82"/>
              </a:solidFill>
            </a:endParaRP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222222"/>
                </a:solidFill>
              </a:rPr>
              <a:t>Diet:  Low glycaemic foods — whole grains, legumes, non-starchy vegetables.</a:t>
            </a:r>
            <a:endParaRPr sz="1600" b="0">
              <a:solidFill>
                <a:srgbClr val="222222"/>
              </a:solidFill>
            </a:endParaRP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222222"/>
                </a:solidFill>
              </a:rPr>
              <a:t>       Limit refined carbs, sugar-sweetened drinks, and processed snacks.</a:t>
            </a:r>
            <a:endParaRPr sz="1600" b="0">
              <a:solidFill>
                <a:srgbClr val="222222"/>
              </a:solidFill>
            </a:endParaRP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222222"/>
                </a:solidFill>
              </a:rPr>
              <a:t>Exercise:  30 min moderate activity (walking/cycling) 5 days/week.</a:t>
            </a:r>
            <a:endParaRPr sz="1600" b="0">
              <a:solidFill>
                <a:srgbClr val="222222"/>
              </a:solidFill>
            </a:endParaRP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222222"/>
                </a:solidFill>
              </a:rPr>
              <a:t>           Post-meal walks can help reduce blood sugar spikes.</a:t>
            </a:r>
            <a:endParaRPr sz="1600" b="0">
              <a:solidFill>
                <a:srgbClr val="222222"/>
              </a:solidFill>
            </a:endParaRP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222222"/>
                </a:solidFill>
              </a:rPr>
              <a:t>Wellness:  Monitor fasting glucose regularly. Prioritise 7–9 hours sleep.</a:t>
            </a:r>
            <a:endParaRPr sz="1600" b="0">
              <a:solidFill>
                <a:srgbClr val="222222"/>
              </a:solidFill>
            </a:endParaRP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222222"/>
                </a:solidFill>
              </a:rPr>
              <a:t>Safety note:  This is informational only. Please consult a qualified</a:t>
            </a:r>
            <a:endParaRPr sz="1600" b="0">
              <a:solidFill>
                <a:srgbClr val="222222"/>
              </a:solidFill>
            </a:endParaRP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222222"/>
                </a:solidFill>
              </a:rPr>
              <a:t>              healthcare provider or certified diabetes educator.</a:t>
            </a:r>
            <a:endParaRPr sz="1600" b="0">
              <a:solidFill>
                <a:srgbClr val="222222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0"/>
            <a:ext cx="12188952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F9900"/>
                </a:solidFill>
              </a:rPr>
              <a:t>SECTION 08</a:t>
            </a:r>
            <a:endParaRPr sz="1600" b="0">
              <a:solidFill>
                <a:srgbClr val="FF99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Get the Code &amp; Run Locally</a:t>
            </a:r>
            <a:endParaRPr sz="3600" b="1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D2E4FF"/>
                </a:solidFill>
              </a:rPr>
              <a:t>github.com/pramodklal/AgenticAI</a:t>
            </a:r>
            <a:endParaRPr sz="2000" b="0">
              <a:solidFill>
                <a:srgbClr val="D2E4FF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C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Quickstart — Clone, Configure, Run</a:t>
            </a:r>
            <a:endParaRPr sz="2600" b="1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11430000" cy="4754880"/>
          </a:xfrm>
          <a:prstGeom prst="rect">
            <a:avLst/>
          </a:prstGeom>
          <a:solidFill>
            <a:srgbClr val="1E1E28"/>
          </a:solidFill>
          <a:ln>
            <a:solidFill>
              <a:srgbClr val="505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10642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B4DCB4"/>
                </a:solidFill>
                <a:latin typeface="Courier New" panose="02070309020205020404"/>
              </a:rPr>
              <a:t># 1. Clone the repository</a:t>
            </a:r>
            <a:endParaRPr sz="1500" b="0">
              <a:solidFill>
                <a:srgbClr val="B4DCB4"/>
              </a:solidFill>
              <a:latin typeface="Courier New" panose="02070309020205020404"/>
            </a:endParaRPr>
          </a:p>
          <a:p>
            <a:r>
              <a:rPr sz="1500" b="0">
                <a:solidFill>
                  <a:srgbClr val="B4DCB4"/>
                </a:solidFill>
                <a:latin typeface="Courier New" panose="02070309020205020404"/>
              </a:rPr>
              <a:t>git clone https://github.com/pramodklal/AgenticAI.git</a:t>
            </a:r>
            <a:endParaRPr sz="1500" b="0">
              <a:solidFill>
                <a:srgbClr val="B4DCB4"/>
              </a:solidFill>
              <a:latin typeface="Courier New" panose="02070309020205020404"/>
            </a:endParaRPr>
          </a:p>
          <a:p>
            <a:r>
              <a:rPr sz="1500" b="0">
                <a:solidFill>
                  <a:srgbClr val="B4DCB4"/>
                </a:solidFill>
                <a:latin typeface="Courier New" panose="02070309020205020404"/>
              </a:rPr>
              <a:t>cd AgenticAI</a:t>
            </a:r>
            <a:endParaRPr sz="1500" b="0">
              <a:solidFill>
                <a:srgbClr val="B4DCB4"/>
              </a:solidFill>
              <a:latin typeface="Courier New" panose="02070309020205020404"/>
            </a:endParaRPr>
          </a:p>
          <a:p>
            <a:endParaRPr sz="1500"/>
          </a:p>
          <a:p>
            <a:r>
              <a:rPr sz="1500" b="0">
                <a:solidFill>
                  <a:srgbClr val="B4DCB4"/>
                </a:solidFill>
                <a:latin typeface="Courier New" panose="02070309020205020404"/>
              </a:rPr>
              <a:t># 2. Create virtual environment and install dependencies</a:t>
            </a:r>
            <a:endParaRPr sz="1500" b="0">
              <a:solidFill>
                <a:srgbClr val="B4DCB4"/>
              </a:solidFill>
              <a:latin typeface="Courier New" panose="02070309020205020404"/>
            </a:endParaRPr>
          </a:p>
          <a:p>
            <a:r>
              <a:rPr sz="1500" b="0">
                <a:solidFill>
                  <a:srgbClr val="B4DCB4"/>
                </a:solidFill>
                <a:latin typeface="Courier New" panose="02070309020205020404"/>
              </a:rPr>
              <a:t>conda create -p envaiagent python=3.11 -y</a:t>
            </a:r>
            <a:endParaRPr sz="1500" b="0">
              <a:solidFill>
                <a:srgbClr val="B4DCB4"/>
              </a:solidFill>
              <a:latin typeface="Courier New" panose="02070309020205020404"/>
            </a:endParaRPr>
          </a:p>
          <a:p>
            <a:r>
              <a:rPr sz="1500" b="0">
                <a:solidFill>
                  <a:srgbClr val="B4DCB4"/>
                </a:solidFill>
                <a:latin typeface="Courier New" panose="02070309020205020404"/>
              </a:rPr>
              <a:t>conda activate ./envaiagent</a:t>
            </a:r>
            <a:endParaRPr sz="1500" b="0">
              <a:solidFill>
                <a:srgbClr val="B4DCB4"/>
              </a:solidFill>
              <a:latin typeface="Courier New" panose="02070309020205020404"/>
            </a:endParaRPr>
          </a:p>
          <a:p>
            <a:r>
              <a:rPr sz="1500" b="0">
                <a:solidFill>
                  <a:srgbClr val="B4DCB4"/>
                </a:solidFill>
                <a:latin typeface="Courier New" panose="02070309020205020404"/>
              </a:rPr>
              <a:t>pip install -r requirements.txt</a:t>
            </a:r>
            <a:endParaRPr sz="1500" b="0">
              <a:solidFill>
                <a:srgbClr val="B4DCB4"/>
              </a:solidFill>
              <a:latin typeface="Courier New" panose="02070309020205020404"/>
            </a:endParaRPr>
          </a:p>
          <a:p>
            <a:endParaRPr sz="1500"/>
          </a:p>
          <a:p>
            <a:r>
              <a:rPr sz="1500" b="0">
                <a:solidFill>
                  <a:srgbClr val="B4DCB4"/>
                </a:solidFill>
                <a:latin typeface="Courier New" panose="02070309020205020404"/>
              </a:rPr>
              <a:t># 3. Configure environment</a:t>
            </a:r>
            <a:endParaRPr sz="1500" b="0">
              <a:solidFill>
                <a:srgbClr val="B4DCB4"/>
              </a:solidFill>
              <a:latin typeface="Courier New" panose="02070309020205020404"/>
            </a:endParaRPr>
          </a:p>
          <a:p>
            <a:r>
              <a:rPr sz="1500" b="0">
                <a:solidFill>
                  <a:srgbClr val="B4DCB4"/>
                </a:solidFill>
                <a:latin typeface="Courier New" panose="02070309020205020404"/>
              </a:rPr>
              <a:t>copy .env.example .env    # then fill in your Azure credentials</a:t>
            </a:r>
            <a:endParaRPr sz="1500" b="0">
              <a:solidFill>
                <a:srgbClr val="B4DCB4"/>
              </a:solidFill>
              <a:latin typeface="Courier New" panose="02070309020205020404"/>
            </a:endParaRPr>
          </a:p>
          <a:p>
            <a:endParaRPr sz="1500"/>
          </a:p>
          <a:p>
            <a:r>
              <a:rPr sz="1500" b="0">
                <a:solidFill>
                  <a:srgbClr val="B4DCB4"/>
                </a:solidFill>
                <a:latin typeface="Courier New" panose="02070309020205020404"/>
              </a:rPr>
              <a:t># 4. Run the app</a:t>
            </a:r>
            <a:endParaRPr sz="1500" b="0">
              <a:solidFill>
                <a:srgbClr val="B4DCB4"/>
              </a:solidFill>
              <a:latin typeface="Courier New" panose="02070309020205020404"/>
            </a:endParaRPr>
          </a:p>
          <a:p>
            <a:r>
              <a:rPr sz="1500" b="0">
                <a:solidFill>
                  <a:srgbClr val="B4DCB4"/>
                </a:solidFill>
                <a:latin typeface="Courier New" panose="02070309020205020404"/>
              </a:rPr>
              <a:t>streamlit run app.py</a:t>
            </a:r>
            <a:endParaRPr sz="1500" b="0">
              <a:solidFill>
                <a:srgbClr val="B4DCB4"/>
              </a:solidFill>
              <a:latin typeface="Courier New" panose="020703090202050204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08076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F9900"/>
                </a:solidFill>
              </a:rPr>
              <a:t>💡  App runs in demo mode with stub data when Azure keys are not configured — safe to explore first</a:t>
            </a:r>
            <a:endParaRPr sz="1300" b="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C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Things to Try After Cloning</a:t>
            </a:r>
            <a:endParaRPr sz="26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</a:rPr>
              <a:t>▸  Ask a health question and enable 'Show agent facts' to see specialist routing</a:t>
            </a:r>
            <a:endParaRPr sz="1900" b="0">
              <a:solidFill>
                <a:srgbClr val="222222"/>
              </a:solidFill>
            </a:endParaRP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</a:rPr>
              <a:t>▸  Change profile values (age, goal, dietary preference) and compare responses</a:t>
            </a:r>
            <a:endParaRPr sz="1900" b="0">
              <a:solidFill>
                <a:srgbClr val="222222"/>
              </a:solidFill>
            </a:endParaRP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</a:rPr>
              <a:t>▸  Enter a US zip code or India pincode — trigger the doctor lookup routing</a:t>
            </a:r>
            <a:endParaRPr sz="1900" b="0">
              <a:solidFill>
                <a:srgbClr val="222222"/>
              </a:solidFill>
            </a:endParaRP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</a:rPr>
              <a:t>▸  Run batch evaluation:  python scripts/run_batch_eval.py</a:t>
            </a:r>
            <a:endParaRPr sz="1900" b="0">
              <a:solidFill>
                <a:srgbClr val="222222"/>
              </a:solidFill>
            </a:endParaRP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</a:rPr>
              <a:t>▸  Open LangSmith — view run traces, tool calls, and latency breakdowns</a:t>
            </a:r>
            <a:endParaRPr sz="1900" b="0">
              <a:solidFill>
                <a:srgbClr val="222222"/>
              </a:solidFill>
            </a:endParaRP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</a:rPr>
              <a:t>▸  Add a new specialist domain in DOMAIN_TOOLSETS and wire a new tool</a:t>
            </a:r>
            <a:endParaRPr sz="1900" b="0">
              <a:solidFill>
                <a:srgbClr val="222222"/>
              </a:solidFill>
            </a:endParaRP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</a:rPr>
              <a:t>▸  Star the repo and open issues for questions or feature requests</a:t>
            </a:r>
            <a:endParaRPr sz="1900" b="0">
              <a:solidFill>
                <a:srgbClr val="22222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46464"/>
                </a:solidFill>
              </a:rPr>
              <a:t>github.com/pramodklal/AgenticAI  |  Issues and PRs welcome</a:t>
            </a:r>
            <a:endParaRPr sz="1200" b="0">
              <a:solidFill>
                <a:srgbClr val="646464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88952" cy="16459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Thanks for watching!</a:t>
            </a:r>
            <a:endParaRPr sz="38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C8DCFF"/>
                </a:solidFill>
              </a:rPr>
              <a:t>Like · Subscribe · Comment below with your questions</a:t>
            </a:r>
            <a:endParaRPr sz="2000" b="0">
              <a:solidFill>
                <a:srgbClr val="C8DC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9900"/>
                </a:solidFill>
              </a:rPr>
              <a:t>GitHub:  github.com/pramodklal/AgenticAI</a:t>
            </a:r>
            <a:endParaRPr sz="1800" b="1">
              <a:solidFill>
                <a:srgbClr val="FF99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D2E4FF"/>
                </a:solidFill>
              </a:rPr>
              <a:t>Source code:  Full Python project — LangGraph + Azure + Streamlit</a:t>
            </a:r>
            <a:endParaRPr sz="1500" b="0">
              <a:solidFill>
                <a:srgbClr val="D2E4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4480559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D2E4FF"/>
                </a:solidFill>
              </a:rPr>
              <a:t>pip install -r requirements.txt  |  streamlit run app.py</a:t>
            </a:r>
            <a:endParaRPr sz="1500" b="0">
              <a:solidFill>
                <a:srgbClr val="D2E4FF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470" y="4983480"/>
            <a:ext cx="10008870" cy="167386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825" cy="76200"/>
          </a:xfrm>
          <a:prstGeom prst="rect">
            <a:avLst/>
          </a:prstGeom>
          <a:solidFill>
            <a:srgbClr val="F5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F56E00"/>
                </a:solidFill>
              </a:rPr>
              <a:t>All 8 Agents in MyHealthCoach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5E7EB"/>
                </a:solidFill>
              </a:rPr>
              <a:t>Each agent has a focused role and the supervisor coordinates the final response.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166360" cy="1143000"/>
          </a:xfrm>
          <a:prstGeom prst="rect">
            <a:avLst/>
          </a:prstGeom>
          <a:solidFill>
            <a:srgbClr val="1A3A5C"/>
          </a:solidFill>
          <a:ln>
            <a:solidFill>
              <a:srgbClr val="F5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325880"/>
            <a:ext cx="4892040" cy="978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F56E00"/>
                </a:solidFill>
              </a:rPr>
              <a:t>Supervisor Agent</a:t>
            </a:r>
          </a:p>
          <a:p>
            <a:r>
              <a:rPr sz="1100">
                <a:solidFill>
                  <a:srgbClr val="FFFFFF"/>
                </a:solidFill>
              </a:rPr>
              <a:t>Routes intent to the right specialists and combines outputs.</a:t>
            </a:r>
          </a:p>
          <a:p>
            <a:r>
              <a:rPr sz="1100">
                <a:solidFill>
                  <a:srgbClr val="FFFFFF"/>
                </a:solidFill>
              </a:rPr>
              <a:t>Ensures grounded, safe, and structured final response.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14600"/>
            <a:ext cx="5166360" cy="1143000"/>
          </a:xfrm>
          <a:prstGeom prst="rect">
            <a:avLst/>
          </a:prstGeom>
          <a:solidFill>
            <a:srgbClr val="1A3A5C"/>
          </a:solidFill>
          <a:ln>
            <a:solidFill>
              <a:srgbClr val="F5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606040"/>
            <a:ext cx="4892040" cy="978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F56E00"/>
                </a:solidFill>
              </a:rPr>
              <a:t>Wellness Agent</a:t>
            </a:r>
          </a:p>
          <a:p>
            <a:r>
              <a:rPr sz="1100">
                <a:solidFill>
                  <a:srgbClr val="FFFFFF"/>
                </a:solidFill>
              </a:rPr>
              <a:t>Handles sleep, recovery, stress, and fatigue guidance.</a:t>
            </a:r>
          </a:p>
          <a:p>
            <a:r>
              <a:rPr sz="1100">
                <a:solidFill>
                  <a:srgbClr val="FFFFFF"/>
                </a:solidFill>
              </a:rPr>
              <a:t>Uses user context and wellness knowledge for daily habits.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94760"/>
            <a:ext cx="5166360" cy="1143000"/>
          </a:xfrm>
          <a:prstGeom prst="rect">
            <a:avLst/>
          </a:prstGeom>
          <a:solidFill>
            <a:srgbClr val="1A3A5C"/>
          </a:solidFill>
          <a:ln>
            <a:solidFill>
              <a:srgbClr val="F5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3886200"/>
            <a:ext cx="4892040" cy="978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F56E00"/>
                </a:solidFill>
              </a:rPr>
              <a:t>Fitness Agent</a:t>
            </a:r>
          </a:p>
          <a:p>
            <a:r>
              <a:rPr sz="1100">
                <a:solidFill>
                  <a:srgbClr val="FFFFFF"/>
                </a:solidFill>
              </a:rPr>
              <a:t>Handles workouts, training load, and movement safety.</a:t>
            </a:r>
          </a:p>
          <a:p>
            <a:r>
              <a:rPr sz="1100">
                <a:solidFill>
                  <a:srgbClr val="FFFFFF"/>
                </a:solidFill>
              </a:rPr>
              <a:t>Suggests exercise adjustments based on recovery readiness.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74920"/>
            <a:ext cx="5166360" cy="1143000"/>
          </a:xfrm>
          <a:prstGeom prst="rect">
            <a:avLst/>
          </a:prstGeom>
          <a:solidFill>
            <a:srgbClr val="1A3A5C"/>
          </a:solidFill>
          <a:ln>
            <a:solidFill>
              <a:srgbClr val="F5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166360"/>
            <a:ext cx="4892040" cy="978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F56E00"/>
                </a:solidFill>
              </a:rPr>
              <a:t>Dietitian Agent</a:t>
            </a:r>
          </a:p>
          <a:p>
            <a:r>
              <a:rPr sz="1100">
                <a:solidFill>
                  <a:srgbClr val="FFFFFF"/>
                </a:solidFill>
              </a:rPr>
              <a:t>Handles nutrition, hydration, and meal-planning advice.</a:t>
            </a:r>
          </a:p>
          <a:p>
            <a:r>
              <a:rPr sz="1100">
                <a:solidFill>
                  <a:srgbClr val="FFFFFF"/>
                </a:solidFill>
              </a:rPr>
              <a:t>Provides practical, goal-aligned dietary recommendations.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1234440"/>
            <a:ext cx="5166360" cy="1143000"/>
          </a:xfrm>
          <a:prstGeom prst="rect">
            <a:avLst/>
          </a:prstGeom>
          <a:solidFill>
            <a:srgbClr val="1A3A5C"/>
          </a:solidFill>
          <a:ln>
            <a:solidFill>
              <a:srgbClr val="F5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3912" y="1325880"/>
            <a:ext cx="4892040" cy="978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F56E00"/>
                </a:solidFill>
              </a:rPr>
              <a:t>Medicines Agent</a:t>
            </a:r>
          </a:p>
          <a:p>
            <a:r>
              <a:rPr sz="1100">
                <a:solidFill>
                  <a:srgbClr val="FFFFFF"/>
                </a:solidFill>
              </a:rPr>
              <a:t>Handles symptom-aware OTC guidance and medicine safety.</a:t>
            </a:r>
          </a:p>
          <a:p>
            <a:r>
              <a:rPr sz="1100">
                <a:solidFill>
                  <a:srgbClr val="FFFFFF"/>
                </a:solidFill>
              </a:rPr>
              <a:t>Adds red-flag escalation when serious symptom patterns appear.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2514600"/>
            <a:ext cx="5166360" cy="1143000"/>
          </a:xfrm>
          <a:prstGeom prst="rect">
            <a:avLst/>
          </a:prstGeom>
          <a:solidFill>
            <a:srgbClr val="1A3A5C"/>
          </a:solidFill>
          <a:ln>
            <a:solidFill>
              <a:srgbClr val="F5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53912" y="2606040"/>
            <a:ext cx="4892040" cy="978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F56E00"/>
                </a:solidFill>
              </a:rPr>
              <a:t>Mental Health Agent</a:t>
            </a:r>
          </a:p>
          <a:p>
            <a:r>
              <a:rPr sz="1100">
                <a:solidFill>
                  <a:srgbClr val="FFFFFF"/>
                </a:solidFill>
              </a:rPr>
              <a:t>Handles anxiety, mood support, and stress de-escalation.</a:t>
            </a:r>
          </a:p>
          <a:p>
            <a:r>
              <a:rPr sz="1100">
                <a:solidFill>
                  <a:srgbClr val="FFFFFF"/>
                </a:solidFill>
              </a:rPr>
              <a:t>Suggests supportive routines and when to seek licensed help.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3794760"/>
            <a:ext cx="5166360" cy="1143000"/>
          </a:xfrm>
          <a:prstGeom prst="rect">
            <a:avLst/>
          </a:prstGeom>
          <a:solidFill>
            <a:srgbClr val="1A3A5C"/>
          </a:solidFill>
          <a:ln>
            <a:solidFill>
              <a:srgbClr val="F5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3912" y="3886200"/>
            <a:ext cx="4892040" cy="978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F56E00"/>
                </a:solidFill>
              </a:rPr>
              <a:t>Maternal Health Agent</a:t>
            </a:r>
          </a:p>
          <a:p>
            <a:r>
              <a:rPr sz="1100">
                <a:solidFill>
                  <a:srgbClr val="FFFFFF"/>
                </a:solidFill>
              </a:rPr>
              <a:t>Handles prenatal and postpartum-safe guidance.</a:t>
            </a:r>
          </a:p>
          <a:p>
            <a:r>
              <a:rPr sz="1100">
                <a:solidFill>
                  <a:srgbClr val="FFFFFF"/>
                </a:solidFill>
              </a:rPr>
              <a:t>Emphasizes low-risk routines with explicit escalation notes.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5074920"/>
            <a:ext cx="5166360" cy="1143000"/>
          </a:xfrm>
          <a:prstGeom prst="rect">
            <a:avLst/>
          </a:prstGeom>
          <a:solidFill>
            <a:srgbClr val="1A3A5C"/>
          </a:solidFill>
          <a:ln>
            <a:solidFill>
              <a:srgbClr val="F5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53912" y="5166360"/>
            <a:ext cx="4892040" cy="978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F56E00"/>
                </a:solidFill>
              </a:rPr>
              <a:t>Women Health Agent</a:t>
            </a:r>
          </a:p>
          <a:p>
            <a:r>
              <a:rPr sz="1100">
                <a:solidFill>
                  <a:srgbClr val="FFFFFF"/>
                </a:solidFill>
              </a:rPr>
              <a:t>Handles cycle-related wellness, PCOS, and menopause topics.</a:t>
            </a:r>
          </a:p>
          <a:p>
            <a:r>
              <a:rPr sz="1100">
                <a:solidFill>
                  <a:srgbClr val="FFFFFF"/>
                </a:solidFill>
              </a:rPr>
              <a:t>Adapts activity and nutrition to symptom patterns.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10061</Words>
  <Application>WPS Presentation</Application>
  <PresentationFormat>On-screen Show (4:3)</PresentationFormat>
  <Paragraphs>300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5" baseType="lpstr">
      <vt:lpstr>Arial</vt:lpstr>
      <vt:lpstr>SimSun</vt:lpstr>
      <vt:lpstr>Wingdings</vt:lpstr>
      <vt:lpstr>Arial</vt:lpstr>
      <vt:lpstr>Courier New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Pramod Lal</cp:lastModifiedBy>
  <cp:revision>7</cp:revision>
  <dcterms:created xsi:type="dcterms:W3CDTF">2013-01-27T09:14:00Z</dcterms:created>
  <dcterms:modified xsi:type="dcterms:W3CDTF">2026-05-02T17:11:39Z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C2EF91169FD343AD8CB84704C2000754_12</vt:lpwstr>
  </property>
</Properties>
</file>